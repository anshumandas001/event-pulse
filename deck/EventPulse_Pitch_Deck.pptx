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1.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slideLayout" Target="../slideLayouts/slideLayout1.xml"/><Relationship Id="rId9"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027"/>
        </a:solidFill>
      </p:bgPr>
    </p:bg>
    <p:spTree>
      <p:nvGrpSpPr>
        <p:cNvPr id="1" name=""/>
        <p:cNvGrpSpPr/>
        <p:nvPr/>
      </p:nvGrpSpPr>
      <p:grpSpPr>
        <a:xfrm>
          <a:off x="0" y="0"/>
          <a:ext cx="0" cy="0"/>
          <a:chOff x="0" y="0"/>
          <a:chExt cx="0" cy="0"/>
        </a:xfrm>
      </p:grpSpPr>
      <p:sp>
        <p:nvSpPr>
          <p:cNvPr id="2" name="Shape 0"/>
          <p:cNvSpPr/>
          <p:nvPr/>
        </p:nvSpPr>
        <p:spPr>
          <a:xfrm>
            <a:off x="548640" y="502920"/>
            <a:ext cx="310896" cy="713232"/>
          </a:xfrm>
          <a:prstGeom prst="roundRect">
            <a:avLst>
              <a:gd name="adj" fmla="val 17647"/>
            </a:avLst>
          </a:prstGeom>
          <a:solidFill>
            <a:srgbClr val="161A1F"/>
          </a:solidFill>
          <a:ln/>
        </p:spPr>
      </p:sp>
      <p:sp>
        <p:nvSpPr>
          <p:cNvPr id="3" name="Shape 1"/>
          <p:cNvSpPr/>
          <p:nvPr/>
        </p:nvSpPr>
        <p:spPr>
          <a:xfrm>
            <a:off x="617037" y="545714"/>
            <a:ext cx="174102" cy="180685"/>
          </a:xfrm>
          <a:prstGeom prst="ellipse">
            <a:avLst/>
          </a:prstGeom>
          <a:solidFill>
            <a:srgbClr val="39414C"/>
          </a:solidFill>
          <a:ln/>
        </p:spPr>
      </p:sp>
      <p:sp>
        <p:nvSpPr>
          <p:cNvPr id="4" name="Shape 2"/>
          <p:cNvSpPr/>
          <p:nvPr/>
        </p:nvSpPr>
        <p:spPr>
          <a:xfrm>
            <a:off x="617037" y="769193"/>
            <a:ext cx="174102" cy="180685"/>
          </a:xfrm>
          <a:prstGeom prst="ellipse">
            <a:avLst/>
          </a:prstGeom>
          <a:solidFill>
            <a:srgbClr val="F2A93B"/>
          </a:solidFill>
          <a:ln/>
          <a:effectLst>
            <a:outerShdw sx="100000" sy="100000" kx="0" ky="0" algn="bl" rotWithShape="0" blurRad="127000" dist="50800" dir="16200000">
              <a:srgbClr val="F2A93B">
                <a:alpha val="70000"/>
              </a:srgbClr>
            </a:outerShdw>
          </a:effectLst>
        </p:spPr>
      </p:sp>
      <p:sp>
        <p:nvSpPr>
          <p:cNvPr id="5" name="Shape 3"/>
          <p:cNvSpPr/>
          <p:nvPr/>
        </p:nvSpPr>
        <p:spPr>
          <a:xfrm>
            <a:off x="617037" y="992673"/>
            <a:ext cx="174102" cy="180685"/>
          </a:xfrm>
          <a:prstGeom prst="ellipse">
            <a:avLst/>
          </a:prstGeom>
          <a:solidFill>
            <a:srgbClr val="39414C"/>
          </a:solidFill>
          <a:ln/>
        </p:spPr>
      </p:sp>
      <p:sp>
        <p:nvSpPr>
          <p:cNvPr id="6" name="Text 4"/>
          <p:cNvSpPr/>
          <p:nvPr/>
        </p:nvSpPr>
        <p:spPr>
          <a:xfrm>
            <a:off x="987552" y="502920"/>
            <a:ext cx="4572000" cy="502920"/>
          </a:xfrm>
          <a:prstGeom prst="rect">
            <a:avLst/>
          </a:prstGeom>
          <a:noFill/>
          <a:ln/>
        </p:spPr>
        <p:txBody>
          <a:bodyPr wrap="square" lIns="0" tIns="0" rIns="0" bIns="0" rtlCol="0" anchor="ctr"/>
          <a:lstStyle/>
          <a:p>
            <a:pPr indent="0" marL="0">
              <a:buNone/>
            </a:pPr>
            <a:r>
              <a:rPr lang="en-US" sz="2200" b="1" dirty="0">
                <a:solidFill>
                  <a:srgbClr val="FFFFFF"/>
                </a:solidFill>
                <a:latin typeface="Cambria" pitchFamily="34" charset="0"/>
                <a:ea typeface="Cambria" pitchFamily="34" charset="-122"/>
                <a:cs typeface="Cambria" pitchFamily="34" charset="-120"/>
              </a:rPr>
              <a:t>EVENT</a:t>
            </a:r>
            <a:pPr indent="0" marL="0">
              <a:buNone/>
            </a:pPr>
            <a:r>
              <a:rPr lang="en-US" sz="2200" b="1" dirty="0">
                <a:solidFill>
                  <a:srgbClr val="F2A93B"/>
                </a:solidFill>
                <a:latin typeface="Cambria" pitchFamily="34" charset="0"/>
                <a:ea typeface="Cambria" pitchFamily="34" charset="-122"/>
                <a:cs typeface="Cambria" pitchFamily="34" charset="-120"/>
              </a:rPr>
              <a:t>PULSE</a:t>
            </a:r>
            <a:endParaRPr lang="en-US" sz="2200" dirty="0"/>
          </a:p>
        </p:txBody>
      </p:sp>
      <p:sp>
        <p:nvSpPr>
          <p:cNvPr id="7" name="Text 5"/>
          <p:cNvSpPr/>
          <p:nvPr/>
        </p:nvSpPr>
        <p:spPr>
          <a:xfrm>
            <a:off x="1005840" y="960120"/>
            <a:ext cx="6400800" cy="274320"/>
          </a:xfrm>
          <a:prstGeom prst="rect">
            <a:avLst/>
          </a:prstGeom>
          <a:noFill/>
          <a:ln/>
        </p:spPr>
        <p:txBody>
          <a:bodyPr wrap="square" rtlCol="0" anchor="ctr"/>
          <a:lstStyle/>
          <a:p>
            <a:pPr indent="0" marL="0">
              <a:buNone/>
            </a:pPr>
            <a:r>
              <a:rPr lang="en-US" sz="1000" spc="100" kern="0" dirty="0">
                <a:solidFill>
                  <a:srgbClr val="8089A0"/>
                </a:solidFill>
                <a:latin typeface="Courier New" pitchFamily="34" charset="0"/>
                <a:ea typeface="Courier New" pitchFamily="34" charset="-122"/>
                <a:cs typeface="Courier New" pitchFamily="34" charset="-120"/>
              </a:rPr>
              <a:t>EVENT-DRIVEN CONGESTION — PLANNED &amp; UNPLANNED</a:t>
            </a:r>
            <a:endParaRPr lang="en-US" sz="1000" dirty="0"/>
          </a:p>
        </p:txBody>
      </p:sp>
      <p:sp>
        <p:nvSpPr>
          <p:cNvPr id="8" name="Text 6"/>
          <p:cNvSpPr/>
          <p:nvPr/>
        </p:nvSpPr>
        <p:spPr>
          <a:xfrm>
            <a:off x="548640" y="1691640"/>
            <a:ext cx="8229600" cy="274320"/>
          </a:xfrm>
          <a:prstGeom prst="rect">
            <a:avLst/>
          </a:prstGeom>
          <a:noFill/>
          <a:ln/>
        </p:spPr>
        <p:txBody>
          <a:bodyPr wrap="square" rtlCol="0" anchor="ctr"/>
          <a:lstStyle/>
          <a:p>
            <a:pPr indent="0" marL="0">
              <a:buNone/>
            </a:pPr>
            <a:r>
              <a:rPr lang="en-US" sz="1150" b="1" spc="150" kern="0" dirty="0">
                <a:solidFill>
                  <a:srgbClr val="F2A93B"/>
                </a:solidFill>
                <a:latin typeface="Calibri" pitchFamily="34" charset="0"/>
                <a:ea typeface="Calibri" pitchFamily="34" charset="-122"/>
                <a:cs typeface="Calibri" pitchFamily="34" charset="-120"/>
              </a:rPr>
              <a:t>THE PROBLEM STATEMENT</a:t>
            </a:r>
            <a:endParaRPr lang="en-US" sz="1150" dirty="0"/>
          </a:p>
        </p:txBody>
      </p:sp>
      <p:sp>
        <p:nvSpPr>
          <p:cNvPr id="9" name="Text 7"/>
          <p:cNvSpPr/>
          <p:nvPr/>
        </p:nvSpPr>
        <p:spPr>
          <a:xfrm>
            <a:off x="548640" y="1993392"/>
            <a:ext cx="10789920" cy="1005840"/>
          </a:xfrm>
          <a:prstGeom prst="rect">
            <a:avLst/>
          </a:prstGeom>
          <a:noFill/>
          <a:ln/>
        </p:spPr>
        <p:txBody>
          <a:bodyPr wrap="square" rtlCol="0" anchor="ctr"/>
          <a:lstStyle/>
          <a:p>
            <a:pPr indent="0" marL="0">
              <a:lnSpc>
                <a:spcPct val="108000"/>
              </a:lnSpc>
              <a:buNone/>
            </a:pPr>
            <a:r>
              <a:rPr lang="en-US" sz="3000" b="1" dirty="0">
                <a:solidFill>
                  <a:srgbClr val="FFFFFF"/>
                </a:solidFill>
                <a:latin typeface="Cambria" pitchFamily="34" charset="0"/>
                <a:ea typeface="Cambria" pitchFamily="34" charset="-122"/>
                <a:cs typeface="Cambria" pitchFamily="34" charset="-120"/>
              </a:rPr>
              <a:t>When the city gathers, traffic breaks — and nobody saw it coming</a:t>
            </a:r>
            <a:endParaRPr lang="en-US" sz="3000" dirty="0"/>
          </a:p>
        </p:txBody>
      </p:sp>
      <p:sp>
        <p:nvSpPr>
          <p:cNvPr id="10" name="Text 8"/>
          <p:cNvSpPr/>
          <p:nvPr/>
        </p:nvSpPr>
        <p:spPr>
          <a:xfrm>
            <a:off x="548640" y="3063240"/>
            <a:ext cx="8412480" cy="1051560"/>
          </a:xfrm>
          <a:prstGeom prst="rect">
            <a:avLst/>
          </a:prstGeom>
          <a:noFill/>
          <a:ln/>
        </p:spPr>
        <p:txBody>
          <a:bodyPr wrap="square" rtlCol="0" anchor="ctr"/>
          <a:lstStyle/>
          <a:p>
            <a:pPr indent="0" marL="0">
              <a:lnSpc>
                <a:spcPct val="130000"/>
              </a:lnSpc>
              <a:buNone/>
            </a:pPr>
            <a:r>
              <a:rPr lang="en-US" sz="1350" dirty="0">
                <a:solidFill>
                  <a:srgbClr val="C4CAD4"/>
                </a:solidFill>
                <a:latin typeface="Calibri" pitchFamily="34" charset="0"/>
                <a:ea typeface="Calibri" pitchFamily="34" charset="-122"/>
                <a:cs typeface="Calibri" pitchFamily="34" charset="-120"/>
              </a:rPr>
              <a:t>Political rallies, festivals, sports events, construction activity, and sudden gatherings all create localized traffic breakdowns across Bengaluru. Some are scheduled weeks in advance; others happen with no warning at all. Either way, the response today depends on whoever happens to be on shift — not on what six months of incident history already says will happen.</a:t>
            </a:r>
            <a:endParaRPr lang="en-US" sz="1350" dirty="0"/>
          </a:p>
        </p:txBody>
      </p:sp>
      <p:sp>
        <p:nvSpPr>
          <p:cNvPr id="11" name="Shape 9"/>
          <p:cNvSpPr/>
          <p:nvPr/>
        </p:nvSpPr>
        <p:spPr>
          <a:xfrm>
            <a:off x="548640" y="4434840"/>
            <a:ext cx="3383280" cy="1234440"/>
          </a:xfrm>
          <a:prstGeom prst="roundRect">
            <a:avLst>
              <a:gd name="adj" fmla="val 5926"/>
            </a:avLst>
          </a:prstGeom>
          <a:solidFill>
            <a:srgbClr val="232A33"/>
          </a:solidFill>
          <a:ln w="12700">
            <a:solidFill>
              <a:srgbClr val="384150"/>
            </a:solidFill>
            <a:prstDash val="solid"/>
          </a:ln>
        </p:spPr>
      </p:sp>
      <p:sp>
        <p:nvSpPr>
          <p:cNvPr id="12" name="Shape 10"/>
          <p:cNvSpPr/>
          <p:nvPr/>
        </p:nvSpPr>
        <p:spPr>
          <a:xfrm>
            <a:off x="749808" y="4636008"/>
            <a:ext cx="566928" cy="566928"/>
          </a:xfrm>
          <a:prstGeom prst="ellipse">
            <a:avLst/>
          </a:prstGeom>
          <a:solidFill>
            <a:srgbClr val="1B2027"/>
          </a:solidFill>
          <a:ln/>
        </p:spPr>
      </p:sp>
      <p:pic>
        <p:nvPicPr>
          <p:cNvPr id="13" name="Image 0" descr="preencoded.png">    </p:cNvPr>
          <p:cNvPicPr>
            <a:picLocks noChangeAspect="1"/>
          </p:cNvPicPr>
          <p:nvPr/>
        </p:nvPicPr>
        <p:blipFill>
          <a:blip r:embed="rId1"/>
          <a:stretch>
            <a:fillRect/>
          </a:stretch>
        </p:blipFill>
        <p:spPr>
          <a:xfrm>
            <a:off x="891540" y="4777740"/>
            <a:ext cx="283464" cy="283464"/>
          </a:xfrm>
          <a:prstGeom prst="rect">
            <a:avLst/>
          </a:prstGeom>
        </p:spPr>
      </p:pic>
      <p:sp>
        <p:nvSpPr>
          <p:cNvPr id="14" name="Text 11"/>
          <p:cNvSpPr/>
          <p:nvPr/>
        </p:nvSpPr>
        <p:spPr>
          <a:xfrm>
            <a:off x="1463040" y="4544568"/>
            <a:ext cx="2286000" cy="86868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Impact isn't quantified in advance</a:t>
            </a:r>
            <a:endParaRPr lang="en-US" sz="1200" dirty="0"/>
          </a:p>
        </p:txBody>
      </p:sp>
      <p:sp>
        <p:nvSpPr>
          <p:cNvPr id="15" name="Shape 12"/>
          <p:cNvSpPr/>
          <p:nvPr/>
        </p:nvSpPr>
        <p:spPr>
          <a:xfrm>
            <a:off x="4160520" y="4434840"/>
            <a:ext cx="3383280" cy="1234440"/>
          </a:xfrm>
          <a:prstGeom prst="roundRect">
            <a:avLst>
              <a:gd name="adj" fmla="val 5926"/>
            </a:avLst>
          </a:prstGeom>
          <a:solidFill>
            <a:srgbClr val="232A33"/>
          </a:solidFill>
          <a:ln w="12700">
            <a:solidFill>
              <a:srgbClr val="384150"/>
            </a:solidFill>
            <a:prstDash val="solid"/>
          </a:ln>
        </p:spPr>
      </p:sp>
      <p:sp>
        <p:nvSpPr>
          <p:cNvPr id="16" name="Shape 13"/>
          <p:cNvSpPr/>
          <p:nvPr/>
        </p:nvSpPr>
        <p:spPr>
          <a:xfrm>
            <a:off x="4361688" y="4636008"/>
            <a:ext cx="566928" cy="566928"/>
          </a:xfrm>
          <a:prstGeom prst="ellipse">
            <a:avLst/>
          </a:prstGeom>
          <a:solidFill>
            <a:srgbClr val="1B2027"/>
          </a:solidFill>
          <a:ln/>
        </p:spPr>
      </p:sp>
      <p:pic>
        <p:nvPicPr>
          <p:cNvPr id="17" name="Image 1" descr="preencoded.png">    </p:cNvPr>
          <p:cNvPicPr>
            <a:picLocks noChangeAspect="1"/>
          </p:cNvPicPr>
          <p:nvPr/>
        </p:nvPicPr>
        <p:blipFill>
          <a:blip r:embed="rId2"/>
          <a:stretch>
            <a:fillRect/>
          </a:stretch>
        </p:blipFill>
        <p:spPr>
          <a:xfrm>
            <a:off x="4503420" y="4777740"/>
            <a:ext cx="283464" cy="283464"/>
          </a:xfrm>
          <a:prstGeom prst="rect">
            <a:avLst/>
          </a:prstGeom>
        </p:spPr>
      </p:pic>
      <p:sp>
        <p:nvSpPr>
          <p:cNvPr id="18" name="Text 14"/>
          <p:cNvSpPr/>
          <p:nvPr/>
        </p:nvSpPr>
        <p:spPr>
          <a:xfrm>
            <a:off x="5074920" y="4544568"/>
            <a:ext cx="2286000" cy="86868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Deployment is experience-driven</a:t>
            </a:r>
            <a:endParaRPr lang="en-US" sz="1200" dirty="0"/>
          </a:p>
        </p:txBody>
      </p:sp>
      <p:sp>
        <p:nvSpPr>
          <p:cNvPr id="19" name="Shape 15"/>
          <p:cNvSpPr/>
          <p:nvPr/>
        </p:nvSpPr>
        <p:spPr>
          <a:xfrm>
            <a:off x="7772400" y="4434840"/>
            <a:ext cx="3383280" cy="1234440"/>
          </a:xfrm>
          <a:prstGeom prst="roundRect">
            <a:avLst>
              <a:gd name="adj" fmla="val 5926"/>
            </a:avLst>
          </a:prstGeom>
          <a:solidFill>
            <a:srgbClr val="232A33"/>
          </a:solidFill>
          <a:ln w="12700">
            <a:solidFill>
              <a:srgbClr val="384150"/>
            </a:solidFill>
            <a:prstDash val="solid"/>
          </a:ln>
        </p:spPr>
      </p:sp>
      <p:sp>
        <p:nvSpPr>
          <p:cNvPr id="20" name="Shape 16"/>
          <p:cNvSpPr/>
          <p:nvPr/>
        </p:nvSpPr>
        <p:spPr>
          <a:xfrm>
            <a:off x="7973568" y="4636008"/>
            <a:ext cx="566928" cy="566928"/>
          </a:xfrm>
          <a:prstGeom prst="ellipse">
            <a:avLst/>
          </a:prstGeom>
          <a:solidFill>
            <a:srgbClr val="1B2027"/>
          </a:solidFill>
          <a:ln/>
        </p:spPr>
      </p:sp>
      <p:pic>
        <p:nvPicPr>
          <p:cNvPr id="21" name="Image 2" descr="preencoded.png">    </p:cNvPr>
          <p:cNvPicPr>
            <a:picLocks noChangeAspect="1"/>
          </p:cNvPicPr>
          <p:nvPr/>
        </p:nvPicPr>
        <p:blipFill>
          <a:blip r:embed="rId3"/>
          <a:stretch>
            <a:fillRect/>
          </a:stretch>
        </p:blipFill>
        <p:spPr>
          <a:xfrm>
            <a:off x="8115300" y="4777740"/>
            <a:ext cx="283464" cy="283464"/>
          </a:xfrm>
          <a:prstGeom prst="rect">
            <a:avLst/>
          </a:prstGeom>
        </p:spPr>
      </p:pic>
      <p:sp>
        <p:nvSpPr>
          <p:cNvPr id="22" name="Text 17"/>
          <p:cNvSpPr/>
          <p:nvPr/>
        </p:nvSpPr>
        <p:spPr>
          <a:xfrm>
            <a:off x="8686800" y="4544568"/>
            <a:ext cx="2286000" cy="868680"/>
          </a:xfrm>
          <a:prstGeom prst="rect">
            <a:avLst/>
          </a:prstGeom>
          <a:noFill/>
          <a:ln/>
        </p:spPr>
        <p:txBody>
          <a:bodyPr wrap="square" rtlCol="0" anchor="ctr"/>
          <a:lstStyle/>
          <a:p>
            <a:pPr indent="0" marL="0">
              <a:lnSpc>
                <a:spcPct val="115000"/>
              </a:lnSpc>
              <a:buNone/>
            </a:pPr>
            <a:r>
              <a:rPr lang="en-US" sz="1200" b="1" dirty="0">
                <a:solidFill>
                  <a:srgbClr val="FFFFFF"/>
                </a:solidFill>
                <a:latin typeface="Calibri" pitchFamily="34" charset="0"/>
                <a:ea typeface="Calibri" pitchFamily="34" charset="-122"/>
                <a:cs typeface="Calibri" pitchFamily="34" charset="-120"/>
              </a:rPr>
              <a:t>No post-event learning system</a:t>
            </a:r>
            <a:endParaRPr lang="en-US" sz="1200" dirty="0"/>
          </a:p>
        </p:txBody>
      </p:sp>
      <p:sp>
        <p:nvSpPr>
          <p:cNvPr id="23" name="Text 18"/>
          <p:cNvSpPr/>
          <p:nvPr/>
        </p:nvSpPr>
        <p:spPr>
          <a:xfrm>
            <a:off x="548640" y="6473952"/>
            <a:ext cx="4572000" cy="274320"/>
          </a:xfrm>
          <a:prstGeom prst="rect">
            <a:avLst/>
          </a:prstGeom>
          <a:noFill/>
          <a:ln/>
        </p:spPr>
        <p:txBody>
          <a:bodyPr wrap="square" rtlCol="0" anchor="ctr"/>
          <a:lstStyle/>
          <a:p>
            <a:pPr indent="0" marL="0">
              <a:buNone/>
            </a:pPr>
            <a:r>
              <a:rPr lang="en-US" sz="950" dirty="0">
                <a:solidFill>
                  <a:srgbClr val="5A6472"/>
                </a:solidFill>
                <a:latin typeface="Courier New" pitchFamily="34" charset="0"/>
                <a:ea typeface="Courier New" pitchFamily="34" charset="-122"/>
                <a:cs typeface="Courier New" pitchFamily="34" charset="-120"/>
              </a:rPr>
              <a:t>PROTOTYPE ROUND 2 SUBMISSION · 2026</a:t>
            </a:r>
            <a:endParaRPr lang="en-US" sz="950" dirty="0"/>
          </a:p>
        </p:txBody>
      </p:sp>
      <p:sp>
        <p:nvSpPr>
          <p:cNvPr id="24" name="Text 19"/>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8A6B2E"/>
                </a:solidFill>
                <a:latin typeface="Calibri" pitchFamily="34" charset="0"/>
                <a:ea typeface="Calibri" pitchFamily="34" charset="-122"/>
                <a:cs typeface="Calibri" pitchFamily="34" charset="-120"/>
              </a:rPr>
              <a:t>PROPOSED SOLUTION — PART 1</a:t>
            </a:r>
            <a:endParaRPr lang="en-US" sz="1150" dirty="0"/>
          </a:p>
        </p:txBody>
      </p:sp>
      <p:sp>
        <p:nvSpPr>
          <p:cNvPr id="3" name="Text 1"/>
          <p:cNvSpPr/>
          <p:nvPr/>
        </p:nvSpPr>
        <p:spPr>
          <a:xfrm>
            <a:off x="548640" y="640080"/>
            <a:ext cx="10789920" cy="640080"/>
          </a:xfrm>
          <a:prstGeom prst="rect">
            <a:avLst/>
          </a:prstGeom>
          <a:noFill/>
          <a:ln/>
        </p:spPr>
        <p:txBody>
          <a:bodyPr wrap="square" lIns="0" tIns="0" rIns="0" bIns="0" rtlCol="0" anchor="ctr"/>
          <a:lstStyle/>
          <a:p>
            <a:pPr indent="0" marL="0">
              <a:buNone/>
            </a:pPr>
            <a:r>
              <a:rPr lang="en-US" sz="2800" b="1" dirty="0">
                <a:solidFill>
                  <a:srgbClr val="161A1F"/>
                </a:solidFill>
                <a:latin typeface="Cambria" pitchFamily="34" charset="0"/>
                <a:ea typeface="Cambria" pitchFamily="34" charset="-122"/>
                <a:cs typeface="Cambria" pitchFamily="34" charset="-120"/>
              </a:rPr>
              <a:t>Five tools, one historical record</a:t>
            </a:r>
            <a:endParaRPr lang="en-US" sz="2800" dirty="0"/>
          </a:p>
        </p:txBody>
      </p:sp>
      <p:sp>
        <p:nvSpPr>
          <p:cNvPr id="4" name="Text 2"/>
          <p:cNvSpPr/>
          <p:nvPr/>
        </p:nvSpPr>
        <p:spPr>
          <a:xfrm>
            <a:off x="548640" y="1234440"/>
            <a:ext cx="10789920" cy="411480"/>
          </a:xfrm>
          <a:prstGeom prst="rect">
            <a:avLst/>
          </a:prstGeom>
          <a:noFill/>
          <a:ln/>
        </p:spPr>
        <p:txBody>
          <a:bodyPr wrap="square" rtlCol="0" anchor="ctr"/>
          <a:lstStyle/>
          <a:p>
            <a:pPr indent="0" marL="0">
              <a:buNone/>
            </a:pPr>
            <a:r>
              <a:rPr lang="en-US" sz="1250" dirty="0">
                <a:solidFill>
                  <a:srgbClr val="495260"/>
                </a:solidFill>
                <a:latin typeface="Calibri" pitchFamily="34" charset="0"/>
                <a:ea typeface="Calibri" pitchFamily="34" charset="-122"/>
                <a:cs typeface="Calibri" pitchFamily="34" charset="-120"/>
              </a:rPr>
              <a:t>EventPulse is trained on a real, anonymized 6-month Bengaluru Traffic Police event export — 8,173 records across 21 corridors — and turns it into five working tools.</a:t>
            </a:r>
            <a:endParaRPr lang="en-US" sz="1250" dirty="0"/>
          </a:p>
        </p:txBody>
      </p:sp>
      <p:sp>
        <p:nvSpPr>
          <p:cNvPr id="5" name="Shape 3"/>
          <p:cNvSpPr/>
          <p:nvPr/>
        </p:nvSpPr>
        <p:spPr>
          <a:xfrm>
            <a:off x="548640" y="18288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6" name="Shape 4"/>
          <p:cNvSpPr/>
          <p:nvPr/>
        </p:nvSpPr>
        <p:spPr>
          <a:xfrm>
            <a:off x="731520" y="2011680"/>
            <a:ext cx="512064" cy="512064"/>
          </a:xfrm>
          <a:prstGeom prst="ellipse">
            <a:avLst/>
          </a:prstGeom>
          <a:solidFill>
            <a:srgbClr val="1B2027"/>
          </a:solidFill>
          <a:ln/>
        </p:spPr>
      </p:sp>
      <p:pic>
        <p:nvPicPr>
          <p:cNvPr id="7" name="Image 0" descr="preencoded.png">    </p:cNvPr>
          <p:cNvPicPr>
            <a:picLocks noChangeAspect="1"/>
          </p:cNvPicPr>
          <p:nvPr/>
        </p:nvPicPr>
        <p:blipFill>
          <a:blip r:embed="rId1"/>
          <a:stretch>
            <a:fillRect/>
          </a:stretch>
        </p:blipFill>
        <p:spPr>
          <a:xfrm>
            <a:off x="854415" y="2134575"/>
            <a:ext cx="266273" cy="266273"/>
          </a:xfrm>
          <a:prstGeom prst="rect">
            <a:avLst/>
          </a:prstGeom>
        </p:spPr>
      </p:pic>
      <p:sp>
        <p:nvSpPr>
          <p:cNvPr id="8" name="Text 5"/>
          <p:cNvSpPr/>
          <p:nvPr/>
        </p:nvSpPr>
        <p:spPr>
          <a:xfrm>
            <a:off x="731520" y="26060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Forecast &amp; Map</a:t>
            </a:r>
            <a:endParaRPr lang="en-US" sz="1350" dirty="0"/>
          </a:p>
        </p:txBody>
      </p:sp>
      <p:sp>
        <p:nvSpPr>
          <p:cNvPr id="9" name="Text 6"/>
          <p:cNvSpPr/>
          <p:nvPr/>
        </p:nvSpPr>
        <p:spPr>
          <a:xfrm>
            <a:off x="731520" y="29077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Score a planned or unplanned event before it happens: Severity Index, duration, personnel, barricades, and a named diversion.</a:t>
            </a:r>
            <a:endParaRPr lang="en-US" sz="950" dirty="0"/>
          </a:p>
        </p:txBody>
      </p:sp>
      <p:sp>
        <p:nvSpPr>
          <p:cNvPr id="10" name="Shape 7"/>
          <p:cNvSpPr/>
          <p:nvPr/>
        </p:nvSpPr>
        <p:spPr>
          <a:xfrm>
            <a:off x="4187952" y="18288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11" name="Shape 8"/>
          <p:cNvSpPr/>
          <p:nvPr/>
        </p:nvSpPr>
        <p:spPr>
          <a:xfrm>
            <a:off x="4370832" y="2011680"/>
            <a:ext cx="512064" cy="512064"/>
          </a:xfrm>
          <a:prstGeom prst="ellipse">
            <a:avLst/>
          </a:prstGeom>
          <a:solidFill>
            <a:srgbClr val="1B2027"/>
          </a:solidFill>
          <a:ln/>
        </p:spPr>
      </p:sp>
      <p:pic>
        <p:nvPicPr>
          <p:cNvPr id="12" name="Image 1" descr="preencoded.png">    </p:cNvPr>
          <p:cNvPicPr>
            <a:picLocks noChangeAspect="1"/>
          </p:cNvPicPr>
          <p:nvPr/>
        </p:nvPicPr>
        <p:blipFill>
          <a:blip r:embed="rId2"/>
          <a:stretch>
            <a:fillRect/>
          </a:stretch>
        </p:blipFill>
        <p:spPr>
          <a:xfrm>
            <a:off x="4493727" y="2134575"/>
            <a:ext cx="266273" cy="266273"/>
          </a:xfrm>
          <a:prstGeom prst="rect">
            <a:avLst/>
          </a:prstGeom>
        </p:spPr>
      </p:pic>
      <p:sp>
        <p:nvSpPr>
          <p:cNvPr id="13" name="Text 9"/>
          <p:cNvSpPr/>
          <p:nvPr/>
        </p:nvSpPr>
        <p:spPr>
          <a:xfrm>
            <a:off x="4370832" y="26060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Upcoming Outlook</a:t>
            </a:r>
            <a:endParaRPr lang="en-US" sz="1350" dirty="0"/>
          </a:p>
        </p:txBody>
      </p:sp>
      <p:sp>
        <p:nvSpPr>
          <p:cNvPr id="14" name="Text 10"/>
          <p:cNvSpPr/>
          <p:nvPr/>
        </p:nvSpPr>
        <p:spPr>
          <a:xfrm>
            <a:off x="4370832" y="29077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A 7-day statistical projection of likely hotspots, plus a week planner with automatic conflict detection.</a:t>
            </a:r>
            <a:endParaRPr lang="en-US" sz="950" dirty="0"/>
          </a:p>
        </p:txBody>
      </p:sp>
      <p:sp>
        <p:nvSpPr>
          <p:cNvPr id="15" name="Shape 11"/>
          <p:cNvSpPr/>
          <p:nvPr/>
        </p:nvSpPr>
        <p:spPr>
          <a:xfrm>
            <a:off x="7827264" y="18288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16" name="Shape 12"/>
          <p:cNvSpPr/>
          <p:nvPr/>
        </p:nvSpPr>
        <p:spPr>
          <a:xfrm>
            <a:off x="8010144" y="2011680"/>
            <a:ext cx="512064" cy="512064"/>
          </a:xfrm>
          <a:prstGeom prst="ellipse">
            <a:avLst/>
          </a:prstGeom>
          <a:solidFill>
            <a:srgbClr val="1B2027"/>
          </a:solidFill>
          <a:ln/>
        </p:spPr>
      </p:sp>
      <p:pic>
        <p:nvPicPr>
          <p:cNvPr id="17" name="Image 2" descr="preencoded.png">    </p:cNvPr>
          <p:cNvPicPr>
            <a:picLocks noChangeAspect="1"/>
          </p:cNvPicPr>
          <p:nvPr/>
        </p:nvPicPr>
        <p:blipFill>
          <a:blip r:embed="rId3"/>
          <a:stretch>
            <a:fillRect/>
          </a:stretch>
        </p:blipFill>
        <p:spPr>
          <a:xfrm>
            <a:off x="8133039" y="2134575"/>
            <a:ext cx="266273" cy="266273"/>
          </a:xfrm>
          <a:prstGeom prst="rect">
            <a:avLst/>
          </a:prstGeom>
        </p:spPr>
      </p:pic>
      <p:sp>
        <p:nvSpPr>
          <p:cNvPr id="18" name="Text 13"/>
          <p:cNvSpPr/>
          <p:nvPr/>
        </p:nvSpPr>
        <p:spPr>
          <a:xfrm>
            <a:off x="8010144" y="26060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Historical Insights</a:t>
            </a:r>
            <a:endParaRPr lang="en-US" sz="1350" dirty="0"/>
          </a:p>
        </p:txBody>
      </p:sp>
      <p:sp>
        <p:nvSpPr>
          <p:cNvPr id="19" name="Text 14"/>
          <p:cNvSpPr/>
          <p:nvPr/>
        </p:nvSpPr>
        <p:spPr>
          <a:xfrm>
            <a:off x="8010144" y="29077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Six months of patterns: cause breakdown, the hourly dual-peak, top corridors, and the planned-vs-unplanned trend.</a:t>
            </a:r>
            <a:endParaRPr lang="en-US" sz="950" dirty="0"/>
          </a:p>
        </p:txBody>
      </p:sp>
      <p:sp>
        <p:nvSpPr>
          <p:cNvPr id="20" name="Shape 15"/>
          <p:cNvSpPr/>
          <p:nvPr/>
        </p:nvSpPr>
        <p:spPr>
          <a:xfrm>
            <a:off x="548640" y="38862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21" name="Shape 16"/>
          <p:cNvSpPr/>
          <p:nvPr/>
        </p:nvSpPr>
        <p:spPr>
          <a:xfrm>
            <a:off x="731520" y="4069080"/>
            <a:ext cx="512064" cy="512064"/>
          </a:xfrm>
          <a:prstGeom prst="ellipse">
            <a:avLst/>
          </a:prstGeom>
          <a:solidFill>
            <a:srgbClr val="1B2027"/>
          </a:solidFill>
          <a:ln/>
        </p:spPr>
      </p:sp>
      <p:pic>
        <p:nvPicPr>
          <p:cNvPr id="22" name="Image 3" descr="preencoded.png">    </p:cNvPr>
          <p:cNvPicPr>
            <a:picLocks noChangeAspect="1"/>
          </p:cNvPicPr>
          <p:nvPr/>
        </p:nvPicPr>
        <p:blipFill>
          <a:blip r:embed="rId4"/>
          <a:stretch>
            <a:fillRect/>
          </a:stretch>
        </p:blipFill>
        <p:spPr>
          <a:xfrm>
            <a:off x="854415" y="4191975"/>
            <a:ext cx="266273" cy="266273"/>
          </a:xfrm>
          <a:prstGeom prst="rect">
            <a:avLst/>
          </a:prstGeom>
        </p:spPr>
      </p:pic>
      <p:sp>
        <p:nvSpPr>
          <p:cNvPr id="23" name="Text 17"/>
          <p:cNvSpPr/>
          <p:nvPr/>
        </p:nvSpPr>
        <p:spPr>
          <a:xfrm>
            <a:off x="731520" y="46634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Model Validation</a:t>
            </a:r>
            <a:endParaRPr lang="en-US" sz="1350" dirty="0"/>
          </a:p>
        </p:txBody>
      </p:sp>
      <p:sp>
        <p:nvSpPr>
          <p:cNvPr id="24" name="Text 18"/>
          <p:cNvSpPr/>
          <p:nvPr/>
        </p:nvSpPr>
        <p:spPr>
          <a:xfrm>
            <a:off x="731520" y="49651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Two real, cross-validated ML models with their honest holdout metrics and benchmarks published, not asserted.</a:t>
            </a:r>
            <a:endParaRPr lang="en-US" sz="950" dirty="0"/>
          </a:p>
        </p:txBody>
      </p:sp>
      <p:sp>
        <p:nvSpPr>
          <p:cNvPr id="25" name="Shape 19"/>
          <p:cNvSpPr/>
          <p:nvPr/>
        </p:nvSpPr>
        <p:spPr>
          <a:xfrm>
            <a:off x="4187952" y="38862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26" name="Shape 20"/>
          <p:cNvSpPr/>
          <p:nvPr/>
        </p:nvSpPr>
        <p:spPr>
          <a:xfrm>
            <a:off x="4370832" y="4069080"/>
            <a:ext cx="512064" cy="512064"/>
          </a:xfrm>
          <a:prstGeom prst="ellipse">
            <a:avLst/>
          </a:prstGeom>
          <a:solidFill>
            <a:srgbClr val="1B2027"/>
          </a:solidFill>
          <a:ln/>
        </p:spPr>
      </p:sp>
      <p:pic>
        <p:nvPicPr>
          <p:cNvPr id="27" name="Image 4" descr="preencoded.png">    </p:cNvPr>
          <p:cNvPicPr>
            <a:picLocks noChangeAspect="1"/>
          </p:cNvPicPr>
          <p:nvPr/>
        </p:nvPicPr>
        <p:blipFill>
          <a:blip r:embed="rId5"/>
          <a:stretch>
            <a:fillRect/>
          </a:stretch>
        </p:blipFill>
        <p:spPr>
          <a:xfrm>
            <a:off x="4493727" y="4191975"/>
            <a:ext cx="266273" cy="266273"/>
          </a:xfrm>
          <a:prstGeom prst="rect">
            <a:avLst/>
          </a:prstGeom>
        </p:spPr>
      </p:pic>
      <p:sp>
        <p:nvSpPr>
          <p:cNvPr id="28" name="Text 21"/>
          <p:cNvSpPr/>
          <p:nvPr/>
        </p:nvSpPr>
        <p:spPr>
          <a:xfrm>
            <a:off x="4370832" y="46634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Live Ops Triage</a:t>
            </a:r>
            <a:endParaRPr lang="en-US" sz="1350" dirty="0"/>
          </a:p>
        </p:txBody>
      </p:sp>
      <p:sp>
        <p:nvSpPr>
          <p:cNvPr id="29" name="Text 22"/>
          <p:cNvSpPr/>
          <p:nvPr/>
        </p:nvSpPr>
        <p:spPr>
          <a:xfrm>
            <a:off x="4370832" y="49651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Already-known incidents triaged directly by their own priority and closure flags — a different problem from forecasting.</a:t>
            </a:r>
            <a:endParaRPr lang="en-US" sz="950" dirty="0"/>
          </a:p>
        </p:txBody>
      </p:sp>
      <p:sp>
        <p:nvSpPr>
          <p:cNvPr id="30" name="Shape 23"/>
          <p:cNvSpPr/>
          <p:nvPr/>
        </p:nvSpPr>
        <p:spPr>
          <a:xfrm>
            <a:off x="7827264" y="3886200"/>
            <a:ext cx="3456432" cy="1874520"/>
          </a:xfrm>
          <a:prstGeom prst="roundRect">
            <a:avLst>
              <a:gd name="adj" fmla="val 4390"/>
            </a:avLst>
          </a:prstGeom>
          <a:solidFill>
            <a:srgbClr val="F4F5F3"/>
          </a:solidFill>
          <a:ln/>
          <a:effectLst>
            <a:outerShdw sx="100000" sy="100000" kx="0" ky="0" algn="bl" rotWithShape="0" blurRad="88900" dist="38100" dir="5400000">
              <a:srgbClr val="000000">
                <a:alpha val="12000"/>
              </a:srgbClr>
            </a:outerShdw>
          </a:effectLst>
        </p:spPr>
      </p:sp>
      <p:sp>
        <p:nvSpPr>
          <p:cNvPr id="31" name="Shape 24"/>
          <p:cNvSpPr/>
          <p:nvPr/>
        </p:nvSpPr>
        <p:spPr>
          <a:xfrm>
            <a:off x="8010144" y="4069080"/>
            <a:ext cx="512064" cy="512064"/>
          </a:xfrm>
          <a:prstGeom prst="ellipse">
            <a:avLst/>
          </a:prstGeom>
          <a:solidFill>
            <a:srgbClr val="1B2027"/>
          </a:solidFill>
          <a:ln/>
        </p:spPr>
      </p:sp>
      <p:pic>
        <p:nvPicPr>
          <p:cNvPr id="32" name="Image 5" descr="preencoded.png">    </p:cNvPr>
          <p:cNvPicPr>
            <a:picLocks noChangeAspect="1"/>
          </p:cNvPicPr>
          <p:nvPr/>
        </p:nvPicPr>
        <p:blipFill>
          <a:blip r:embed="rId6"/>
          <a:stretch>
            <a:fillRect/>
          </a:stretch>
        </p:blipFill>
        <p:spPr>
          <a:xfrm>
            <a:off x="8133039" y="4191975"/>
            <a:ext cx="266273" cy="266273"/>
          </a:xfrm>
          <a:prstGeom prst="rect">
            <a:avLst/>
          </a:prstGeom>
        </p:spPr>
      </p:pic>
      <p:sp>
        <p:nvSpPr>
          <p:cNvPr id="33" name="Text 25"/>
          <p:cNvSpPr/>
          <p:nvPr/>
        </p:nvSpPr>
        <p:spPr>
          <a:xfrm>
            <a:off x="8010144" y="4663440"/>
            <a:ext cx="3090672" cy="292608"/>
          </a:xfrm>
          <a:prstGeom prst="rect">
            <a:avLst/>
          </a:prstGeom>
          <a:noFill/>
          <a:ln/>
        </p:spPr>
        <p:txBody>
          <a:bodyPr wrap="square" lIns="0" tIns="0" rIns="0" bIns="0" rtlCol="0" anchor="ctr"/>
          <a:lstStyle/>
          <a:p>
            <a:pPr indent="0" marL="0">
              <a:buNone/>
            </a:pPr>
            <a:r>
              <a:rPr lang="en-US" sz="1350" b="1" dirty="0">
                <a:solidFill>
                  <a:srgbClr val="161A1F"/>
                </a:solidFill>
                <a:latin typeface="Cambria" pitchFamily="34" charset="0"/>
                <a:ea typeface="Cambria" pitchFamily="34" charset="-122"/>
                <a:cs typeface="Cambria" pitchFamily="34" charset="-120"/>
              </a:rPr>
              <a:t>Learning Loop</a:t>
            </a:r>
            <a:endParaRPr lang="en-US" sz="1350" dirty="0"/>
          </a:p>
        </p:txBody>
      </p:sp>
      <p:sp>
        <p:nvSpPr>
          <p:cNvPr id="34" name="Text 26"/>
          <p:cNvSpPr/>
          <p:nvPr/>
        </p:nvSpPr>
        <p:spPr>
          <a:xfrm>
            <a:off x="8010144" y="4965192"/>
            <a:ext cx="3090672" cy="731520"/>
          </a:xfrm>
          <a:prstGeom prst="rect">
            <a:avLst/>
          </a:prstGeom>
          <a:noFill/>
          <a:ln/>
        </p:spPr>
        <p:txBody>
          <a:bodyPr wrap="square" rtlCol="0" anchor="ctr"/>
          <a:lstStyle/>
          <a:p>
            <a:pPr indent="0" marL="0">
              <a:lnSpc>
                <a:spcPct val="118000"/>
              </a:lnSpc>
              <a:buNone/>
            </a:pPr>
            <a:r>
              <a:rPr lang="en-US" sz="950" dirty="0">
                <a:solidFill>
                  <a:srgbClr val="495260"/>
                </a:solidFill>
                <a:latin typeface="Calibri" pitchFamily="34" charset="0"/>
                <a:ea typeface="Calibri" pitchFamily="34" charset="-122"/>
                <a:cs typeface="Calibri" pitchFamily="34" charset="-120"/>
              </a:rPr>
              <a:t>Resolved events compared against their own forecast, building a running accuracy score in real time.</a:t>
            </a:r>
            <a:endParaRPr lang="en-US" sz="950" dirty="0"/>
          </a:p>
        </p:txBody>
      </p:sp>
      <p:sp>
        <p:nvSpPr>
          <p:cNvPr id="35" name="Text 27"/>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5A6472"/>
                </a:solidFill>
                <a:latin typeface="Cambria" pitchFamily="34" charset="0"/>
                <a:ea typeface="Cambria" pitchFamily="34" charset="-122"/>
                <a:cs typeface="Cambria" pitchFamily="34" charset="-120"/>
              </a:rPr>
              <a:t>EVENTPULSE</a:t>
            </a:r>
            <a:endParaRPr lang="en-US" sz="1000" dirty="0"/>
          </a:p>
        </p:txBody>
      </p:sp>
      <p:sp>
        <p:nvSpPr>
          <p:cNvPr id="36" name="Text 28"/>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8A6B2E"/>
                </a:solidFill>
                <a:latin typeface="Calibri" pitchFamily="34" charset="0"/>
                <a:ea typeface="Calibri" pitchFamily="34" charset="-122"/>
                <a:cs typeface="Calibri" pitchFamily="34" charset="-120"/>
              </a:rPr>
              <a:t>PROPOSED SOLUTION — PART 2</a:t>
            </a:r>
            <a:endParaRPr lang="en-US" sz="1150" dirty="0"/>
          </a:p>
        </p:txBody>
      </p:sp>
      <p:sp>
        <p:nvSpPr>
          <p:cNvPr id="3" name="Text 1"/>
          <p:cNvSpPr/>
          <p:nvPr/>
        </p:nvSpPr>
        <p:spPr>
          <a:xfrm>
            <a:off x="548640" y="640080"/>
            <a:ext cx="10789920" cy="640080"/>
          </a:xfrm>
          <a:prstGeom prst="rect">
            <a:avLst/>
          </a:prstGeom>
          <a:noFill/>
          <a:ln/>
        </p:spPr>
        <p:txBody>
          <a:bodyPr wrap="square" lIns="0" tIns="0" rIns="0" bIns="0" rtlCol="0" anchor="ctr"/>
          <a:lstStyle/>
          <a:p>
            <a:pPr indent="0" marL="0">
              <a:buNone/>
            </a:pPr>
            <a:r>
              <a:rPr lang="en-US" sz="2800" b="1" dirty="0">
                <a:solidFill>
                  <a:srgbClr val="161A1F"/>
                </a:solidFill>
                <a:latin typeface="Cambria" pitchFamily="34" charset="0"/>
                <a:ea typeface="Cambria" pitchFamily="34" charset="-122"/>
                <a:cs typeface="Cambria" pitchFamily="34" charset="-120"/>
              </a:rPr>
              <a:t>How this answers the brief, point by point</a:t>
            </a:r>
            <a:endParaRPr lang="en-US" sz="2800" dirty="0"/>
          </a:p>
        </p:txBody>
      </p:sp>
      <p:sp>
        <p:nvSpPr>
          <p:cNvPr id="4" name="Shape 2"/>
          <p:cNvSpPr/>
          <p:nvPr/>
        </p:nvSpPr>
        <p:spPr>
          <a:xfrm>
            <a:off x="548640" y="1417320"/>
            <a:ext cx="11064240" cy="1325880"/>
          </a:xfrm>
          <a:prstGeom prst="roundRect">
            <a:avLst>
              <a:gd name="adj" fmla="val 6207"/>
            </a:avLst>
          </a:prstGeom>
          <a:solidFill>
            <a:srgbClr val="F4F5F3"/>
          </a:solidFill>
          <a:ln/>
          <a:effectLst>
            <a:outerShdw sx="100000" sy="100000" kx="0" ky="0" algn="bl" rotWithShape="0" blurRad="88900" dist="38100" dir="5400000">
              <a:srgbClr val="000000">
                <a:alpha val="12000"/>
              </a:srgbClr>
            </a:outerShdw>
          </a:effectLst>
        </p:spPr>
      </p:sp>
      <p:sp>
        <p:nvSpPr>
          <p:cNvPr id="5" name="Shape 3"/>
          <p:cNvSpPr/>
          <p:nvPr/>
        </p:nvSpPr>
        <p:spPr>
          <a:xfrm>
            <a:off x="777240" y="1783080"/>
            <a:ext cx="603504" cy="603504"/>
          </a:xfrm>
          <a:prstGeom prst="ellipse">
            <a:avLst/>
          </a:prstGeom>
          <a:solidFill>
            <a:srgbClr val="1B2027"/>
          </a:solidFill>
          <a:ln/>
        </p:spPr>
      </p:sp>
      <p:pic>
        <p:nvPicPr>
          <p:cNvPr id="6" name="Image 0" descr="preencoded.png">    </p:cNvPr>
          <p:cNvPicPr>
            <a:picLocks noChangeAspect="1"/>
          </p:cNvPicPr>
          <p:nvPr/>
        </p:nvPicPr>
        <p:blipFill>
          <a:blip r:embed="rId1"/>
          <a:stretch>
            <a:fillRect/>
          </a:stretch>
        </p:blipFill>
        <p:spPr>
          <a:xfrm>
            <a:off x="928116" y="1933956"/>
            <a:ext cx="301752" cy="301752"/>
          </a:xfrm>
          <a:prstGeom prst="rect">
            <a:avLst/>
          </a:prstGeom>
        </p:spPr>
      </p:pic>
      <p:sp>
        <p:nvSpPr>
          <p:cNvPr id="7" name="Text 4"/>
          <p:cNvSpPr/>
          <p:nvPr/>
        </p:nvSpPr>
        <p:spPr>
          <a:xfrm>
            <a:off x="1600200" y="1563624"/>
            <a:ext cx="3520440" cy="1051560"/>
          </a:xfrm>
          <a:prstGeom prst="rect">
            <a:avLst/>
          </a:prstGeom>
          <a:noFill/>
          <a:ln/>
        </p:spPr>
        <p:txBody>
          <a:bodyPr wrap="square" rtlCol="0" anchor="ctr"/>
          <a:lstStyle/>
          <a:p>
            <a:pPr indent="0" marL="0">
              <a:lnSpc>
                <a:spcPct val="115000"/>
              </a:lnSpc>
              <a:buNone/>
            </a:pPr>
            <a:r>
              <a:rPr lang="en-US" sz="1300" b="1" i="1" dirty="0">
                <a:solidFill>
                  <a:srgbClr val="161A1F"/>
                </a:solidFill>
                <a:latin typeface="Cambria" pitchFamily="34" charset="0"/>
                <a:ea typeface="Cambria" pitchFamily="34" charset="-122"/>
                <a:cs typeface="Cambria" pitchFamily="34" charset="-120"/>
              </a:rPr>
              <a:t>“Impact isn't quantified in advance”</a:t>
            </a:r>
            <a:endParaRPr lang="en-US" sz="1300" dirty="0"/>
          </a:p>
        </p:txBody>
      </p:sp>
      <p:sp>
        <p:nvSpPr>
          <p:cNvPr id="8" name="Shape 5"/>
          <p:cNvSpPr/>
          <p:nvPr/>
        </p:nvSpPr>
        <p:spPr>
          <a:xfrm>
            <a:off x="5257800" y="1618488"/>
            <a:ext cx="0" cy="914400"/>
          </a:xfrm>
          <a:prstGeom prst="line">
            <a:avLst/>
          </a:prstGeom>
          <a:noFill/>
          <a:ln w="12700">
            <a:solidFill>
              <a:srgbClr val="DCDFE1"/>
            </a:solidFill>
            <a:prstDash val="solid"/>
          </a:ln>
        </p:spPr>
      </p:sp>
      <p:sp>
        <p:nvSpPr>
          <p:cNvPr id="9" name="Text 6"/>
          <p:cNvSpPr/>
          <p:nvPr/>
        </p:nvSpPr>
        <p:spPr>
          <a:xfrm>
            <a:off x="5486400" y="1563624"/>
            <a:ext cx="5943600" cy="1051560"/>
          </a:xfrm>
          <a:prstGeom prst="rect">
            <a:avLst/>
          </a:prstGeom>
          <a:noFill/>
          <a:ln/>
        </p:spPr>
        <p:txBody>
          <a:bodyPr wrap="square" rtlCol="0" anchor="ctr"/>
          <a:lstStyle/>
          <a:p>
            <a:pPr indent="0" marL="0">
              <a:lnSpc>
                <a:spcPct val="125000"/>
              </a:lnSpc>
              <a:buNone/>
            </a:pPr>
            <a:r>
              <a:rPr lang="en-US" sz="1150" dirty="0">
                <a:solidFill>
                  <a:srgbClr val="495260"/>
                </a:solidFill>
                <a:latin typeface="Calibri" pitchFamily="34" charset="0"/>
                <a:ea typeface="Calibri" pitchFamily="34" charset="-122"/>
                <a:cs typeface="Calibri" pitchFamily="34" charset="-120"/>
              </a:rPr>
              <a:t>The Forecast and Outlook tools quantify it before the event starts: a Severity Index, a duration range, and a personnel count, scaled by expected event size.</a:t>
            </a:r>
            <a:endParaRPr lang="en-US" sz="1150" dirty="0"/>
          </a:p>
        </p:txBody>
      </p:sp>
      <p:sp>
        <p:nvSpPr>
          <p:cNvPr id="10" name="Shape 7"/>
          <p:cNvSpPr/>
          <p:nvPr/>
        </p:nvSpPr>
        <p:spPr>
          <a:xfrm>
            <a:off x="548640" y="2953512"/>
            <a:ext cx="11064240" cy="1325880"/>
          </a:xfrm>
          <a:prstGeom prst="roundRect">
            <a:avLst>
              <a:gd name="adj" fmla="val 6207"/>
            </a:avLst>
          </a:prstGeom>
          <a:solidFill>
            <a:srgbClr val="F4F5F3"/>
          </a:solidFill>
          <a:ln/>
          <a:effectLst>
            <a:outerShdw sx="100000" sy="100000" kx="0" ky="0" algn="bl" rotWithShape="0" blurRad="88900" dist="38100" dir="5400000">
              <a:srgbClr val="000000">
                <a:alpha val="12000"/>
              </a:srgbClr>
            </a:outerShdw>
          </a:effectLst>
        </p:spPr>
      </p:sp>
      <p:sp>
        <p:nvSpPr>
          <p:cNvPr id="11" name="Shape 8"/>
          <p:cNvSpPr/>
          <p:nvPr/>
        </p:nvSpPr>
        <p:spPr>
          <a:xfrm>
            <a:off x="777240" y="3319272"/>
            <a:ext cx="603504" cy="603504"/>
          </a:xfrm>
          <a:prstGeom prst="ellipse">
            <a:avLst/>
          </a:prstGeom>
          <a:solidFill>
            <a:srgbClr val="1B2027"/>
          </a:solidFill>
          <a:ln/>
        </p:spPr>
      </p:sp>
      <p:pic>
        <p:nvPicPr>
          <p:cNvPr id="12" name="Image 1" descr="preencoded.png">    </p:cNvPr>
          <p:cNvPicPr>
            <a:picLocks noChangeAspect="1"/>
          </p:cNvPicPr>
          <p:nvPr/>
        </p:nvPicPr>
        <p:blipFill>
          <a:blip r:embed="rId2"/>
          <a:stretch>
            <a:fillRect/>
          </a:stretch>
        </p:blipFill>
        <p:spPr>
          <a:xfrm>
            <a:off x="928116" y="3470148"/>
            <a:ext cx="301752" cy="301752"/>
          </a:xfrm>
          <a:prstGeom prst="rect">
            <a:avLst/>
          </a:prstGeom>
        </p:spPr>
      </p:pic>
      <p:sp>
        <p:nvSpPr>
          <p:cNvPr id="13" name="Text 9"/>
          <p:cNvSpPr/>
          <p:nvPr/>
        </p:nvSpPr>
        <p:spPr>
          <a:xfrm>
            <a:off x="1600200" y="3099816"/>
            <a:ext cx="3520440" cy="1051560"/>
          </a:xfrm>
          <a:prstGeom prst="rect">
            <a:avLst/>
          </a:prstGeom>
          <a:noFill/>
          <a:ln/>
        </p:spPr>
        <p:txBody>
          <a:bodyPr wrap="square" rtlCol="0" anchor="ctr"/>
          <a:lstStyle/>
          <a:p>
            <a:pPr indent="0" marL="0">
              <a:lnSpc>
                <a:spcPct val="115000"/>
              </a:lnSpc>
              <a:buNone/>
            </a:pPr>
            <a:r>
              <a:rPr lang="en-US" sz="1300" b="1" i="1" dirty="0">
                <a:solidFill>
                  <a:srgbClr val="161A1F"/>
                </a:solidFill>
                <a:latin typeface="Cambria" pitchFamily="34" charset="0"/>
                <a:ea typeface="Cambria" pitchFamily="34" charset="-122"/>
                <a:cs typeface="Cambria" pitchFamily="34" charset="-120"/>
              </a:rPr>
              <a:t>“Deployment is experience-driven”</a:t>
            </a:r>
            <a:endParaRPr lang="en-US" sz="1300" dirty="0"/>
          </a:p>
        </p:txBody>
      </p:sp>
      <p:sp>
        <p:nvSpPr>
          <p:cNvPr id="14" name="Shape 10"/>
          <p:cNvSpPr/>
          <p:nvPr/>
        </p:nvSpPr>
        <p:spPr>
          <a:xfrm>
            <a:off x="5257800" y="3154680"/>
            <a:ext cx="0" cy="914400"/>
          </a:xfrm>
          <a:prstGeom prst="line">
            <a:avLst/>
          </a:prstGeom>
          <a:noFill/>
          <a:ln w="12700">
            <a:solidFill>
              <a:srgbClr val="DCDFE1"/>
            </a:solidFill>
            <a:prstDash val="solid"/>
          </a:ln>
        </p:spPr>
      </p:sp>
      <p:sp>
        <p:nvSpPr>
          <p:cNvPr id="15" name="Text 11"/>
          <p:cNvSpPr/>
          <p:nvPr/>
        </p:nvSpPr>
        <p:spPr>
          <a:xfrm>
            <a:off x="5486400" y="3099816"/>
            <a:ext cx="5943600" cy="1051560"/>
          </a:xfrm>
          <a:prstGeom prst="rect">
            <a:avLst/>
          </a:prstGeom>
          <a:noFill/>
          <a:ln/>
        </p:spPr>
        <p:txBody>
          <a:bodyPr wrap="square" rtlCol="0" anchor="ctr"/>
          <a:lstStyle/>
          <a:p>
            <a:pPr indent="0" marL="0">
              <a:lnSpc>
                <a:spcPct val="125000"/>
              </a:lnSpc>
              <a:buNone/>
            </a:pPr>
            <a:r>
              <a:rPr lang="en-US" sz="1150" dirty="0">
                <a:solidFill>
                  <a:srgbClr val="495260"/>
                </a:solidFill>
                <a:latin typeface="Calibri" pitchFamily="34" charset="0"/>
                <a:ea typeface="Calibri" pitchFamily="34" charset="-122"/>
                <a:cs typeface="Calibri" pitchFamily="34" charset="-120"/>
              </a:rPr>
              <a:t>Manpower and barricade recommendations are grounded in this cause's and corridor's actual historical record, not a flat default or individual judgment.</a:t>
            </a:r>
            <a:endParaRPr lang="en-US" sz="1150" dirty="0"/>
          </a:p>
        </p:txBody>
      </p:sp>
      <p:sp>
        <p:nvSpPr>
          <p:cNvPr id="16" name="Shape 12"/>
          <p:cNvSpPr/>
          <p:nvPr/>
        </p:nvSpPr>
        <p:spPr>
          <a:xfrm>
            <a:off x="548640" y="4489704"/>
            <a:ext cx="11064240" cy="1325880"/>
          </a:xfrm>
          <a:prstGeom prst="roundRect">
            <a:avLst>
              <a:gd name="adj" fmla="val 6207"/>
            </a:avLst>
          </a:prstGeom>
          <a:solidFill>
            <a:srgbClr val="F4F5F3"/>
          </a:solidFill>
          <a:ln/>
          <a:effectLst>
            <a:outerShdw sx="100000" sy="100000" kx="0" ky="0" algn="bl" rotWithShape="0" blurRad="88900" dist="38100" dir="5400000">
              <a:srgbClr val="000000">
                <a:alpha val="12000"/>
              </a:srgbClr>
            </a:outerShdw>
          </a:effectLst>
        </p:spPr>
      </p:sp>
      <p:sp>
        <p:nvSpPr>
          <p:cNvPr id="17" name="Shape 13"/>
          <p:cNvSpPr/>
          <p:nvPr/>
        </p:nvSpPr>
        <p:spPr>
          <a:xfrm>
            <a:off x="777240" y="4855464"/>
            <a:ext cx="603504" cy="603504"/>
          </a:xfrm>
          <a:prstGeom prst="ellipse">
            <a:avLst/>
          </a:prstGeom>
          <a:solidFill>
            <a:srgbClr val="1B2027"/>
          </a:solidFill>
          <a:ln/>
        </p:spPr>
      </p:sp>
      <p:pic>
        <p:nvPicPr>
          <p:cNvPr id="18" name="Image 2" descr="preencoded.png">    </p:cNvPr>
          <p:cNvPicPr>
            <a:picLocks noChangeAspect="1"/>
          </p:cNvPicPr>
          <p:nvPr/>
        </p:nvPicPr>
        <p:blipFill>
          <a:blip r:embed="rId3"/>
          <a:stretch>
            <a:fillRect/>
          </a:stretch>
        </p:blipFill>
        <p:spPr>
          <a:xfrm>
            <a:off x="928116" y="5006340"/>
            <a:ext cx="301752" cy="301752"/>
          </a:xfrm>
          <a:prstGeom prst="rect">
            <a:avLst/>
          </a:prstGeom>
        </p:spPr>
      </p:pic>
      <p:sp>
        <p:nvSpPr>
          <p:cNvPr id="19" name="Text 14"/>
          <p:cNvSpPr/>
          <p:nvPr/>
        </p:nvSpPr>
        <p:spPr>
          <a:xfrm>
            <a:off x="1600200" y="4636008"/>
            <a:ext cx="3520440" cy="1051560"/>
          </a:xfrm>
          <a:prstGeom prst="rect">
            <a:avLst/>
          </a:prstGeom>
          <a:noFill/>
          <a:ln/>
        </p:spPr>
        <p:txBody>
          <a:bodyPr wrap="square" rtlCol="0" anchor="ctr"/>
          <a:lstStyle/>
          <a:p>
            <a:pPr indent="0" marL="0">
              <a:lnSpc>
                <a:spcPct val="115000"/>
              </a:lnSpc>
              <a:buNone/>
            </a:pPr>
            <a:r>
              <a:rPr lang="en-US" sz="1300" b="1" i="1" dirty="0">
                <a:solidFill>
                  <a:srgbClr val="161A1F"/>
                </a:solidFill>
                <a:latin typeface="Cambria" pitchFamily="34" charset="0"/>
                <a:ea typeface="Cambria" pitchFamily="34" charset="-122"/>
                <a:cs typeface="Cambria" pitchFamily="34" charset="-120"/>
              </a:rPr>
              <a:t>“No post-event learning system”</a:t>
            </a:r>
            <a:endParaRPr lang="en-US" sz="1300" dirty="0"/>
          </a:p>
        </p:txBody>
      </p:sp>
      <p:sp>
        <p:nvSpPr>
          <p:cNvPr id="20" name="Shape 15"/>
          <p:cNvSpPr/>
          <p:nvPr/>
        </p:nvSpPr>
        <p:spPr>
          <a:xfrm>
            <a:off x="5257800" y="4690872"/>
            <a:ext cx="0" cy="914400"/>
          </a:xfrm>
          <a:prstGeom prst="line">
            <a:avLst/>
          </a:prstGeom>
          <a:noFill/>
          <a:ln w="12700">
            <a:solidFill>
              <a:srgbClr val="DCDFE1"/>
            </a:solidFill>
            <a:prstDash val="solid"/>
          </a:ln>
        </p:spPr>
      </p:sp>
      <p:sp>
        <p:nvSpPr>
          <p:cNvPr id="21" name="Text 16"/>
          <p:cNvSpPr/>
          <p:nvPr/>
        </p:nvSpPr>
        <p:spPr>
          <a:xfrm>
            <a:off x="5486400" y="4636008"/>
            <a:ext cx="5943600" cy="1051560"/>
          </a:xfrm>
          <a:prstGeom prst="rect">
            <a:avLst/>
          </a:prstGeom>
          <a:noFill/>
          <a:ln/>
        </p:spPr>
        <p:txBody>
          <a:bodyPr wrap="square" rtlCol="0" anchor="ctr"/>
          <a:lstStyle/>
          <a:p>
            <a:pPr indent="0" marL="0">
              <a:lnSpc>
                <a:spcPct val="125000"/>
              </a:lnSpc>
              <a:buNone/>
            </a:pPr>
            <a:r>
              <a:rPr lang="en-US" sz="1150" dirty="0">
                <a:solidFill>
                  <a:srgbClr val="495260"/>
                </a:solidFill>
                <a:latin typeface="Calibri" pitchFamily="34" charset="0"/>
                <a:ea typeface="Calibri" pitchFamily="34" charset="-122"/>
                <a:cs typeface="Calibri" pitchFamily="34" charset="-120"/>
              </a:rPr>
              <a:t>The Learning Loop compares each resolved event's actual outcome against its forecast, building a running accuracy score that closes the gap directly.</a:t>
            </a:r>
            <a:endParaRPr lang="en-US" sz="1150" dirty="0"/>
          </a:p>
        </p:txBody>
      </p:sp>
      <p:sp>
        <p:nvSpPr>
          <p:cNvPr id="22" name="Text 17"/>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5A6472"/>
                </a:solidFill>
                <a:latin typeface="Cambria" pitchFamily="34" charset="0"/>
                <a:ea typeface="Cambria" pitchFamily="34" charset="-122"/>
                <a:cs typeface="Cambria" pitchFamily="34" charset="-120"/>
              </a:rPr>
              <a:t>EVENTPULSE</a:t>
            </a:r>
            <a:endParaRPr lang="en-US" sz="1000" dirty="0"/>
          </a:p>
        </p:txBody>
      </p:sp>
      <p:sp>
        <p:nvSpPr>
          <p:cNvPr id="23" name="Text 18"/>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8A6B2E"/>
                </a:solidFill>
                <a:latin typeface="Calibri" pitchFamily="34" charset="0"/>
                <a:ea typeface="Calibri" pitchFamily="34" charset="-122"/>
                <a:cs typeface="Calibri" pitchFamily="34" charset="-120"/>
              </a:rPr>
              <a:t>TECHNICAL ARCHITECTURE — WORKFLOW</a:t>
            </a:r>
            <a:endParaRPr lang="en-US" sz="1150" dirty="0"/>
          </a:p>
        </p:txBody>
      </p:sp>
      <p:sp>
        <p:nvSpPr>
          <p:cNvPr id="3" name="Text 1"/>
          <p:cNvSpPr/>
          <p:nvPr/>
        </p:nvSpPr>
        <p:spPr>
          <a:xfrm>
            <a:off x="548640" y="640080"/>
            <a:ext cx="10789920" cy="640080"/>
          </a:xfrm>
          <a:prstGeom prst="rect">
            <a:avLst/>
          </a:prstGeom>
          <a:noFill/>
          <a:ln/>
        </p:spPr>
        <p:txBody>
          <a:bodyPr wrap="square" lIns="0" tIns="0" rIns="0" bIns="0" rtlCol="0" anchor="ctr"/>
          <a:lstStyle/>
          <a:p>
            <a:pPr indent="0" marL="0">
              <a:buNone/>
            </a:pPr>
            <a:r>
              <a:rPr lang="en-US" sz="2800" b="1" dirty="0">
                <a:solidFill>
                  <a:srgbClr val="161A1F"/>
                </a:solidFill>
                <a:latin typeface="Cambria" pitchFamily="34" charset="0"/>
                <a:ea typeface="Cambria" pitchFamily="34" charset="-122"/>
                <a:cs typeface="Cambria" pitchFamily="34" charset="-120"/>
              </a:rPr>
              <a:t>Three layers, zero servers</a:t>
            </a:r>
            <a:endParaRPr lang="en-US" sz="2800" dirty="0"/>
          </a:p>
        </p:txBody>
      </p:sp>
      <p:sp>
        <p:nvSpPr>
          <p:cNvPr id="4" name="Text 2"/>
          <p:cNvSpPr/>
          <p:nvPr/>
        </p:nvSpPr>
        <p:spPr>
          <a:xfrm>
            <a:off x="548640" y="1371600"/>
            <a:ext cx="5486400" cy="274320"/>
          </a:xfrm>
          <a:prstGeom prst="rect">
            <a:avLst/>
          </a:prstGeom>
          <a:noFill/>
          <a:ln/>
        </p:spPr>
        <p:txBody>
          <a:bodyPr wrap="square" rtlCol="0" anchor="ctr"/>
          <a:lstStyle/>
          <a:p>
            <a:pPr indent="0" marL="0">
              <a:buNone/>
            </a:pPr>
            <a:r>
              <a:rPr lang="en-US" sz="1000" b="1" spc="80" kern="0" dirty="0">
                <a:solidFill>
                  <a:srgbClr val="707C8C"/>
                </a:solidFill>
                <a:latin typeface="Calibri" pitchFamily="34" charset="0"/>
                <a:ea typeface="Calibri" pitchFamily="34" charset="-122"/>
                <a:cs typeface="Calibri" pitchFamily="34" charset="-120"/>
              </a:rPr>
              <a:t>OFFLINE — RUN ONCE, IN PYTHON</a:t>
            </a:r>
            <a:endParaRPr lang="en-US" sz="1000" dirty="0"/>
          </a:p>
        </p:txBody>
      </p:sp>
      <p:sp>
        <p:nvSpPr>
          <p:cNvPr id="5" name="Shape 3"/>
          <p:cNvSpPr/>
          <p:nvPr/>
        </p:nvSpPr>
        <p:spPr>
          <a:xfrm>
            <a:off x="548640" y="1691640"/>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6" name="Shape 4"/>
          <p:cNvSpPr/>
          <p:nvPr/>
        </p:nvSpPr>
        <p:spPr>
          <a:xfrm>
            <a:off x="676656" y="1856232"/>
            <a:ext cx="530352" cy="530352"/>
          </a:xfrm>
          <a:prstGeom prst="ellipse">
            <a:avLst/>
          </a:prstGeom>
          <a:solidFill>
            <a:srgbClr val="FFFFFF"/>
          </a:solidFill>
          <a:ln/>
        </p:spPr>
      </p:sp>
      <p:pic>
        <p:nvPicPr>
          <p:cNvPr id="7" name="Image 0" descr="preencoded.png">    </p:cNvPr>
          <p:cNvPicPr>
            <a:picLocks noChangeAspect="1"/>
          </p:cNvPicPr>
          <p:nvPr/>
        </p:nvPicPr>
        <p:blipFill>
          <a:blip r:embed="rId1"/>
          <a:stretch>
            <a:fillRect/>
          </a:stretch>
        </p:blipFill>
        <p:spPr>
          <a:xfrm>
            <a:off x="803940" y="1983516"/>
            <a:ext cx="275783" cy="275783"/>
          </a:xfrm>
          <a:prstGeom prst="rect">
            <a:avLst/>
          </a:prstGeom>
        </p:spPr>
      </p:pic>
      <p:sp>
        <p:nvSpPr>
          <p:cNvPr id="8" name="Text 5"/>
          <p:cNvSpPr/>
          <p:nvPr/>
        </p:nvSpPr>
        <p:spPr>
          <a:xfrm>
            <a:off x="1298448" y="1783080"/>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Raw Event CSV</a:t>
            </a:r>
            <a:endParaRPr lang="en-US" sz="1200" dirty="0"/>
          </a:p>
        </p:txBody>
      </p:sp>
      <p:sp>
        <p:nvSpPr>
          <p:cNvPr id="9" name="Text 6"/>
          <p:cNvSpPr/>
          <p:nvPr/>
        </p:nvSpPr>
        <p:spPr>
          <a:xfrm>
            <a:off x="1298448" y="2075688"/>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Anonymized B-TRAC</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export, 8,173 rows</a:t>
            </a:r>
            <a:endParaRPr lang="en-US" sz="800" dirty="0"/>
          </a:p>
        </p:txBody>
      </p:sp>
      <p:sp>
        <p:nvSpPr>
          <p:cNvPr id="10" name="Shape 7"/>
          <p:cNvSpPr/>
          <p:nvPr/>
        </p:nvSpPr>
        <p:spPr>
          <a:xfrm rot="5400000">
            <a:off x="2976372" y="2052828"/>
            <a:ext cx="128016" cy="146304"/>
          </a:xfrm>
          <a:prstGeom prst="triangle">
            <a:avLst/>
          </a:prstGeom>
          <a:solidFill>
            <a:srgbClr val="707C8C"/>
          </a:solidFill>
          <a:ln/>
        </p:spPr>
      </p:sp>
      <p:sp>
        <p:nvSpPr>
          <p:cNvPr id="11" name="Shape 8"/>
          <p:cNvSpPr/>
          <p:nvPr/>
        </p:nvSpPr>
        <p:spPr>
          <a:xfrm>
            <a:off x="3200400" y="1691640"/>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12" name="Shape 9"/>
          <p:cNvSpPr/>
          <p:nvPr/>
        </p:nvSpPr>
        <p:spPr>
          <a:xfrm>
            <a:off x="3328416" y="1856232"/>
            <a:ext cx="530352" cy="530352"/>
          </a:xfrm>
          <a:prstGeom prst="ellipse">
            <a:avLst/>
          </a:prstGeom>
          <a:solidFill>
            <a:srgbClr val="FFFFFF"/>
          </a:solidFill>
          <a:ln/>
        </p:spPr>
      </p:sp>
      <p:pic>
        <p:nvPicPr>
          <p:cNvPr id="13" name="Image 1" descr="preencoded.png">    </p:cNvPr>
          <p:cNvPicPr>
            <a:picLocks noChangeAspect="1"/>
          </p:cNvPicPr>
          <p:nvPr/>
        </p:nvPicPr>
        <p:blipFill>
          <a:blip r:embed="rId2"/>
          <a:stretch>
            <a:fillRect/>
          </a:stretch>
        </p:blipFill>
        <p:spPr>
          <a:xfrm>
            <a:off x="3455700" y="1983516"/>
            <a:ext cx="275783" cy="275783"/>
          </a:xfrm>
          <a:prstGeom prst="rect">
            <a:avLst/>
          </a:prstGeom>
        </p:spPr>
      </p:pic>
      <p:sp>
        <p:nvSpPr>
          <p:cNvPr id="14" name="Text 10"/>
          <p:cNvSpPr/>
          <p:nvPr/>
        </p:nvSpPr>
        <p:spPr>
          <a:xfrm>
            <a:off x="3950208" y="1783080"/>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data_pipeline.py</a:t>
            </a:r>
            <a:endParaRPr lang="en-US" sz="1200" dirty="0"/>
          </a:p>
        </p:txBody>
      </p:sp>
      <p:sp>
        <p:nvSpPr>
          <p:cNvPr id="15" name="Text 11"/>
          <p:cNvSpPr/>
          <p:nvPr/>
        </p:nvSpPr>
        <p:spPr>
          <a:xfrm>
            <a:off x="3950208" y="2075688"/>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pandas — aggregates,</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map grid, junctions</a:t>
            </a:r>
            <a:endParaRPr lang="en-US" sz="800" dirty="0"/>
          </a:p>
        </p:txBody>
      </p:sp>
      <p:sp>
        <p:nvSpPr>
          <p:cNvPr id="16" name="Shape 12"/>
          <p:cNvSpPr/>
          <p:nvPr/>
        </p:nvSpPr>
        <p:spPr>
          <a:xfrm rot="5400000">
            <a:off x="5628132" y="2052828"/>
            <a:ext cx="128016" cy="146304"/>
          </a:xfrm>
          <a:prstGeom prst="triangle">
            <a:avLst/>
          </a:prstGeom>
          <a:solidFill>
            <a:srgbClr val="707C8C"/>
          </a:solidFill>
          <a:ln/>
        </p:spPr>
      </p:sp>
      <p:sp>
        <p:nvSpPr>
          <p:cNvPr id="17" name="Shape 13"/>
          <p:cNvSpPr/>
          <p:nvPr/>
        </p:nvSpPr>
        <p:spPr>
          <a:xfrm>
            <a:off x="5852160" y="1691640"/>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18" name="Shape 14"/>
          <p:cNvSpPr/>
          <p:nvPr/>
        </p:nvSpPr>
        <p:spPr>
          <a:xfrm>
            <a:off x="5980176" y="1856232"/>
            <a:ext cx="530352" cy="530352"/>
          </a:xfrm>
          <a:prstGeom prst="ellipse">
            <a:avLst/>
          </a:prstGeom>
          <a:solidFill>
            <a:srgbClr val="FFFFFF"/>
          </a:solidFill>
          <a:ln/>
        </p:spPr>
      </p:sp>
      <p:pic>
        <p:nvPicPr>
          <p:cNvPr id="19" name="Image 2" descr="preencoded.png">    </p:cNvPr>
          <p:cNvPicPr>
            <a:picLocks noChangeAspect="1"/>
          </p:cNvPicPr>
          <p:nvPr/>
        </p:nvPicPr>
        <p:blipFill>
          <a:blip r:embed="rId3"/>
          <a:stretch>
            <a:fillRect/>
          </a:stretch>
        </p:blipFill>
        <p:spPr>
          <a:xfrm>
            <a:off x="6107460" y="1983516"/>
            <a:ext cx="275783" cy="275783"/>
          </a:xfrm>
          <a:prstGeom prst="rect">
            <a:avLst/>
          </a:prstGeom>
        </p:spPr>
      </p:pic>
      <p:sp>
        <p:nvSpPr>
          <p:cNvPr id="20" name="Text 15"/>
          <p:cNvSpPr/>
          <p:nvPr/>
        </p:nvSpPr>
        <p:spPr>
          <a:xfrm>
            <a:off x="6601968" y="1783080"/>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train_models.py</a:t>
            </a:r>
            <a:endParaRPr lang="en-US" sz="1200" dirty="0"/>
          </a:p>
        </p:txBody>
      </p:sp>
      <p:sp>
        <p:nvSpPr>
          <p:cNvPr id="21" name="Text 16"/>
          <p:cNvSpPr/>
          <p:nvPr/>
        </p:nvSpPr>
        <p:spPr>
          <a:xfrm>
            <a:off x="6601968" y="2075688"/>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scikit-learn — Logistic</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Regression + Ridge, validated</a:t>
            </a:r>
            <a:endParaRPr lang="en-US" sz="800" dirty="0"/>
          </a:p>
        </p:txBody>
      </p:sp>
      <p:sp>
        <p:nvSpPr>
          <p:cNvPr id="22" name="Shape 17"/>
          <p:cNvSpPr/>
          <p:nvPr/>
        </p:nvSpPr>
        <p:spPr>
          <a:xfrm>
            <a:off x="6095848" y="2596896"/>
            <a:ext cx="0" cy="246888"/>
          </a:xfrm>
          <a:prstGeom prst="line">
            <a:avLst/>
          </a:prstGeom>
          <a:noFill/>
          <a:ln w="19050">
            <a:solidFill>
              <a:srgbClr val="707C8C"/>
            </a:solidFill>
            <a:prstDash val="solid"/>
          </a:ln>
        </p:spPr>
      </p:sp>
      <p:sp>
        <p:nvSpPr>
          <p:cNvPr id="23" name="Shape 18"/>
          <p:cNvSpPr/>
          <p:nvPr/>
        </p:nvSpPr>
        <p:spPr>
          <a:xfrm rot="10800000">
            <a:off x="6031840" y="2788920"/>
            <a:ext cx="128016" cy="109728"/>
          </a:xfrm>
          <a:prstGeom prst="triangle">
            <a:avLst/>
          </a:prstGeom>
          <a:solidFill>
            <a:srgbClr val="707C8C"/>
          </a:solidFill>
          <a:ln/>
        </p:spPr>
      </p:sp>
      <p:sp>
        <p:nvSpPr>
          <p:cNvPr id="24" name="Shape 19"/>
          <p:cNvSpPr/>
          <p:nvPr/>
        </p:nvSpPr>
        <p:spPr>
          <a:xfrm>
            <a:off x="2804008" y="2880360"/>
            <a:ext cx="6583680" cy="777240"/>
          </a:xfrm>
          <a:prstGeom prst="roundRect">
            <a:avLst>
              <a:gd name="adj" fmla="val 9412"/>
            </a:avLst>
          </a:prstGeom>
          <a:solidFill>
            <a:srgbClr val="1B2027"/>
          </a:solidFill>
          <a:ln/>
          <a:effectLst>
            <a:outerShdw sx="100000" sy="100000" kx="0" ky="0" algn="bl" rotWithShape="0" blurRad="88900" dist="38100" dir="5400000">
              <a:srgbClr val="000000">
                <a:alpha val="12000"/>
              </a:srgbClr>
            </a:outerShdw>
          </a:effectLst>
        </p:spPr>
      </p:sp>
      <p:sp>
        <p:nvSpPr>
          <p:cNvPr id="25" name="Shape 20"/>
          <p:cNvSpPr/>
          <p:nvPr/>
        </p:nvSpPr>
        <p:spPr>
          <a:xfrm>
            <a:off x="2968600" y="2999232"/>
            <a:ext cx="530352" cy="530352"/>
          </a:xfrm>
          <a:prstGeom prst="ellipse">
            <a:avLst/>
          </a:prstGeom>
          <a:solidFill>
            <a:srgbClr val="232A33"/>
          </a:solidFill>
          <a:ln/>
        </p:spPr>
      </p:sp>
      <p:pic>
        <p:nvPicPr>
          <p:cNvPr id="26" name="Image 3" descr="preencoded.png">    </p:cNvPr>
          <p:cNvPicPr>
            <a:picLocks noChangeAspect="1"/>
          </p:cNvPicPr>
          <p:nvPr/>
        </p:nvPicPr>
        <p:blipFill>
          <a:blip r:embed="rId4"/>
          <a:stretch>
            <a:fillRect/>
          </a:stretch>
        </p:blipFill>
        <p:spPr>
          <a:xfrm>
            <a:off x="3101188" y="3131820"/>
            <a:ext cx="265176" cy="265176"/>
          </a:xfrm>
          <a:prstGeom prst="rect">
            <a:avLst/>
          </a:prstGeom>
        </p:spPr>
      </p:pic>
      <p:sp>
        <p:nvSpPr>
          <p:cNvPr id="27" name="Text 21"/>
          <p:cNvSpPr/>
          <p:nvPr/>
        </p:nvSpPr>
        <p:spPr>
          <a:xfrm>
            <a:off x="3672688" y="2971800"/>
            <a:ext cx="3657600" cy="29260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model_data.json</a:t>
            </a:r>
            <a:endParaRPr lang="en-US" sz="1400" dirty="0"/>
          </a:p>
        </p:txBody>
      </p:sp>
      <p:sp>
        <p:nvSpPr>
          <p:cNvPr id="28" name="Text 22"/>
          <p:cNvSpPr/>
          <p:nvPr/>
        </p:nvSpPr>
        <p:spPr>
          <a:xfrm>
            <a:off x="3672688" y="3282696"/>
            <a:ext cx="5577840" cy="347472"/>
          </a:xfrm>
          <a:prstGeom prst="rect">
            <a:avLst/>
          </a:prstGeom>
          <a:noFill/>
          <a:ln/>
        </p:spPr>
        <p:txBody>
          <a:bodyPr wrap="square" rtlCol="0" anchor="ctr"/>
          <a:lstStyle/>
          <a:p>
            <a:pPr indent="0" marL="0">
              <a:lnSpc>
                <a:spcPct val="110000"/>
              </a:lnSpc>
              <a:buNone/>
            </a:pPr>
            <a:r>
              <a:rPr lang="en-US" sz="900" dirty="0">
                <a:solidFill>
                  <a:srgbClr val="AAB3C0"/>
                </a:solidFill>
                <a:latin typeface="Calibri" pitchFamily="34" charset="0"/>
                <a:ea typeface="Calibri" pitchFamily="34" charset="-122"/>
                <a:cs typeface="Calibri" pitchFamily="34" charset="-120"/>
              </a:rPr>
              <a:t>~360 KB · aggregates + learned model coefficients + validation metrics — the only artifact that crosses from Python to the browser</a:t>
            </a:r>
            <a:endParaRPr lang="en-US" sz="900" dirty="0"/>
          </a:p>
        </p:txBody>
      </p:sp>
      <p:sp>
        <p:nvSpPr>
          <p:cNvPr id="29" name="Shape 23"/>
          <p:cNvSpPr/>
          <p:nvPr/>
        </p:nvSpPr>
        <p:spPr>
          <a:xfrm>
            <a:off x="6095848" y="3694176"/>
            <a:ext cx="0" cy="201168"/>
          </a:xfrm>
          <a:prstGeom prst="line">
            <a:avLst/>
          </a:prstGeom>
          <a:noFill/>
          <a:ln w="19050">
            <a:solidFill>
              <a:srgbClr val="707C8C"/>
            </a:solidFill>
            <a:prstDash val="solid"/>
          </a:ln>
        </p:spPr>
      </p:sp>
      <p:sp>
        <p:nvSpPr>
          <p:cNvPr id="30" name="Shape 24"/>
          <p:cNvSpPr/>
          <p:nvPr/>
        </p:nvSpPr>
        <p:spPr>
          <a:xfrm rot="10800000">
            <a:off x="6031840" y="3877056"/>
            <a:ext cx="128016" cy="109728"/>
          </a:xfrm>
          <a:prstGeom prst="triangle">
            <a:avLst/>
          </a:prstGeom>
          <a:solidFill>
            <a:srgbClr val="707C8C"/>
          </a:solidFill>
          <a:ln/>
        </p:spPr>
      </p:sp>
      <p:sp>
        <p:nvSpPr>
          <p:cNvPr id="31" name="Text 25"/>
          <p:cNvSpPr/>
          <p:nvPr/>
        </p:nvSpPr>
        <p:spPr>
          <a:xfrm>
            <a:off x="548640" y="4041648"/>
            <a:ext cx="8229600" cy="274320"/>
          </a:xfrm>
          <a:prstGeom prst="rect">
            <a:avLst/>
          </a:prstGeom>
          <a:noFill/>
          <a:ln/>
        </p:spPr>
        <p:txBody>
          <a:bodyPr wrap="square" rtlCol="0" anchor="ctr"/>
          <a:lstStyle/>
          <a:p>
            <a:pPr indent="0" marL="0">
              <a:buNone/>
            </a:pPr>
            <a:r>
              <a:rPr lang="en-US" sz="1000" b="1" spc="80" kern="0" dirty="0">
                <a:solidFill>
                  <a:srgbClr val="707C8C"/>
                </a:solidFill>
                <a:latin typeface="Calibri" pitchFamily="34" charset="0"/>
                <a:ea typeface="Calibri" pitchFamily="34" charset="-122"/>
                <a:cs typeface="Calibri" pitchFamily="34" charset="-120"/>
              </a:rPr>
              <a:t>CLIENT — SIX STATIC PAGES, RUNS ENTIRELY IN THE BROWSER</a:t>
            </a:r>
            <a:endParaRPr lang="en-US" sz="1000" dirty="0"/>
          </a:p>
        </p:txBody>
      </p:sp>
      <p:sp>
        <p:nvSpPr>
          <p:cNvPr id="32" name="Shape 26"/>
          <p:cNvSpPr/>
          <p:nvPr/>
        </p:nvSpPr>
        <p:spPr>
          <a:xfrm>
            <a:off x="548640" y="4352544"/>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33" name="Shape 27"/>
          <p:cNvSpPr/>
          <p:nvPr/>
        </p:nvSpPr>
        <p:spPr>
          <a:xfrm>
            <a:off x="676656" y="4517136"/>
            <a:ext cx="530352" cy="530352"/>
          </a:xfrm>
          <a:prstGeom prst="ellipse">
            <a:avLst/>
          </a:prstGeom>
          <a:solidFill>
            <a:srgbClr val="FFFFFF"/>
          </a:solidFill>
          <a:ln/>
        </p:spPr>
      </p:sp>
      <p:pic>
        <p:nvPicPr>
          <p:cNvPr id="34" name="Image 4" descr="preencoded.png">    </p:cNvPr>
          <p:cNvPicPr>
            <a:picLocks noChangeAspect="1"/>
          </p:cNvPicPr>
          <p:nvPr/>
        </p:nvPicPr>
        <p:blipFill>
          <a:blip r:embed="rId5"/>
          <a:stretch>
            <a:fillRect/>
          </a:stretch>
        </p:blipFill>
        <p:spPr>
          <a:xfrm>
            <a:off x="803940" y="4644420"/>
            <a:ext cx="275783" cy="275783"/>
          </a:xfrm>
          <a:prstGeom prst="rect">
            <a:avLst/>
          </a:prstGeom>
        </p:spPr>
      </p:pic>
      <p:sp>
        <p:nvSpPr>
          <p:cNvPr id="35" name="Text 28"/>
          <p:cNvSpPr/>
          <p:nvPr/>
        </p:nvSpPr>
        <p:spPr>
          <a:xfrm>
            <a:off x="1298448" y="4443984"/>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app.js + Leaflet</a:t>
            </a:r>
            <a:endParaRPr lang="en-US" sz="1200" dirty="0"/>
          </a:p>
        </p:txBody>
      </p:sp>
      <p:sp>
        <p:nvSpPr>
          <p:cNvPr id="36" name="Text 29"/>
          <p:cNvSpPr/>
          <p:nvPr/>
        </p:nvSpPr>
        <p:spPr>
          <a:xfrm>
            <a:off x="1298448" y="4736592"/>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Map, charts, form</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wiring (Chart.js too)</a:t>
            </a:r>
            <a:endParaRPr lang="en-US" sz="800" dirty="0"/>
          </a:p>
        </p:txBody>
      </p:sp>
      <p:sp>
        <p:nvSpPr>
          <p:cNvPr id="37" name="Shape 30"/>
          <p:cNvSpPr/>
          <p:nvPr/>
        </p:nvSpPr>
        <p:spPr>
          <a:xfrm rot="5400000">
            <a:off x="2976372" y="4713732"/>
            <a:ext cx="128016" cy="146304"/>
          </a:xfrm>
          <a:prstGeom prst="triangle">
            <a:avLst/>
          </a:prstGeom>
          <a:solidFill>
            <a:srgbClr val="707C8C"/>
          </a:solidFill>
          <a:ln/>
        </p:spPr>
      </p:sp>
      <p:sp>
        <p:nvSpPr>
          <p:cNvPr id="38" name="Shape 31"/>
          <p:cNvSpPr/>
          <p:nvPr/>
        </p:nvSpPr>
        <p:spPr>
          <a:xfrm>
            <a:off x="3200400" y="4352544"/>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39" name="Shape 32"/>
          <p:cNvSpPr/>
          <p:nvPr/>
        </p:nvSpPr>
        <p:spPr>
          <a:xfrm>
            <a:off x="3328416" y="4517136"/>
            <a:ext cx="530352" cy="530352"/>
          </a:xfrm>
          <a:prstGeom prst="ellipse">
            <a:avLst/>
          </a:prstGeom>
          <a:solidFill>
            <a:srgbClr val="FFFFFF"/>
          </a:solidFill>
          <a:ln/>
        </p:spPr>
      </p:sp>
      <p:pic>
        <p:nvPicPr>
          <p:cNvPr id="40" name="Image 5" descr="preencoded.png">    </p:cNvPr>
          <p:cNvPicPr>
            <a:picLocks noChangeAspect="1"/>
          </p:cNvPicPr>
          <p:nvPr/>
        </p:nvPicPr>
        <p:blipFill>
          <a:blip r:embed="rId6"/>
          <a:stretch>
            <a:fillRect/>
          </a:stretch>
        </p:blipFill>
        <p:spPr>
          <a:xfrm>
            <a:off x="3455700" y="4644420"/>
            <a:ext cx="275783" cy="275783"/>
          </a:xfrm>
          <a:prstGeom prst="rect">
            <a:avLst/>
          </a:prstGeom>
        </p:spPr>
      </p:pic>
      <p:sp>
        <p:nvSpPr>
          <p:cNvPr id="41" name="Text 33"/>
          <p:cNvSpPr/>
          <p:nvPr/>
        </p:nvSpPr>
        <p:spPr>
          <a:xfrm>
            <a:off x="3950208" y="4443984"/>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engine.js</a:t>
            </a:r>
            <a:endParaRPr lang="en-US" sz="1200" dirty="0"/>
          </a:p>
        </p:txBody>
      </p:sp>
      <p:sp>
        <p:nvSpPr>
          <p:cNvPr id="42" name="Text 34"/>
          <p:cNvSpPr/>
          <p:nvPr/>
        </p:nvSpPr>
        <p:spPr>
          <a:xfrm>
            <a:off x="3950208" y="4736592"/>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Sigmoid + linear dot-</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products — the ML, inline</a:t>
            </a:r>
            <a:endParaRPr lang="en-US" sz="800" dirty="0"/>
          </a:p>
        </p:txBody>
      </p:sp>
      <p:sp>
        <p:nvSpPr>
          <p:cNvPr id="43" name="Shape 35"/>
          <p:cNvSpPr/>
          <p:nvPr/>
        </p:nvSpPr>
        <p:spPr>
          <a:xfrm rot="5400000">
            <a:off x="5628132" y="4713732"/>
            <a:ext cx="128016" cy="146304"/>
          </a:xfrm>
          <a:prstGeom prst="triangle">
            <a:avLst/>
          </a:prstGeom>
          <a:solidFill>
            <a:srgbClr val="707C8C"/>
          </a:solidFill>
          <a:ln/>
        </p:spPr>
      </p:sp>
      <p:sp>
        <p:nvSpPr>
          <p:cNvPr id="44" name="Shape 36"/>
          <p:cNvSpPr/>
          <p:nvPr/>
        </p:nvSpPr>
        <p:spPr>
          <a:xfrm>
            <a:off x="5852160" y="4352544"/>
            <a:ext cx="2331720" cy="868680"/>
          </a:xfrm>
          <a:prstGeom prst="roundRect">
            <a:avLst>
              <a:gd name="adj" fmla="val 7368"/>
            </a:avLst>
          </a:prstGeom>
          <a:solidFill>
            <a:srgbClr val="F4F5F3"/>
          </a:solidFill>
          <a:ln/>
          <a:effectLst>
            <a:outerShdw sx="100000" sy="100000" kx="0" ky="0" algn="bl" rotWithShape="0" blurRad="88900" dist="38100" dir="5400000">
              <a:srgbClr val="000000">
                <a:alpha val="12000"/>
              </a:srgbClr>
            </a:outerShdw>
          </a:effectLst>
        </p:spPr>
      </p:sp>
      <p:sp>
        <p:nvSpPr>
          <p:cNvPr id="45" name="Shape 37"/>
          <p:cNvSpPr/>
          <p:nvPr/>
        </p:nvSpPr>
        <p:spPr>
          <a:xfrm>
            <a:off x="5980176" y="4517136"/>
            <a:ext cx="530352" cy="530352"/>
          </a:xfrm>
          <a:prstGeom prst="ellipse">
            <a:avLst/>
          </a:prstGeom>
          <a:solidFill>
            <a:srgbClr val="FFFFFF"/>
          </a:solidFill>
          <a:ln/>
        </p:spPr>
      </p:sp>
      <p:pic>
        <p:nvPicPr>
          <p:cNvPr id="46" name="Image 6" descr="preencoded.png">    </p:cNvPr>
          <p:cNvPicPr>
            <a:picLocks noChangeAspect="1"/>
          </p:cNvPicPr>
          <p:nvPr/>
        </p:nvPicPr>
        <p:blipFill>
          <a:blip r:embed="rId7"/>
          <a:stretch>
            <a:fillRect/>
          </a:stretch>
        </p:blipFill>
        <p:spPr>
          <a:xfrm>
            <a:off x="6107460" y="4644420"/>
            <a:ext cx="275783" cy="275783"/>
          </a:xfrm>
          <a:prstGeom prst="rect">
            <a:avLst/>
          </a:prstGeom>
        </p:spPr>
      </p:pic>
      <p:sp>
        <p:nvSpPr>
          <p:cNvPr id="47" name="Text 38"/>
          <p:cNvSpPr/>
          <p:nvPr/>
        </p:nvSpPr>
        <p:spPr>
          <a:xfrm>
            <a:off x="6601968" y="4443984"/>
            <a:ext cx="1463040" cy="292608"/>
          </a:xfrm>
          <a:prstGeom prst="rect">
            <a:avLst/>
          </a:prstGeom>
          <a:noFill/>
          <a:ln/>
        </p:spPr>
        <p:txBody>
          <a:bodyPr wrap="square" lIns="0" tIns="0" rIns="0" bIns="0" rtlCol="0" anchor="ctr"/>
          <a:lstStyle/>
          <a:p>
            <a:pPr indent="0" marL="0">
              <a:buNone/>
            </a:pPr>
            <a:r>
              <a:rPr lang="en-US" sz="1200" b="1" dirty="0">
                <a:solidFill>
                  <a:srgbClr val="161A1F"/>
                </a:solidFill>
                <a:latin typeface="Cambria" pitchFamily="34" charset="0"/>
                <a:ea typeface="Cambria" pitchFamily="34" charset="-122"/>
                <a:cs typeface="Cambria" pitchFamily="34" charset="-120"/>
              </a:rPr>
              <a:t>6 HTML pages</a:t>
            </a:r>
            <a:endParaRPr lang="en-US" sz="1200" dirty="0"/>
          </a:p>
        </p:txBody>
      </p:sp>
      <p:sp>
        <p:nvSpPr>
          <p:cNvPr id="48" name="Text 39"/>
          <p:cNvSpPr/>
          <p:nvPr/>
        </p:nvSpPr>
        <p:spPr>
          <a:xfrm>
            <a:off x="6601968" y="4736592"/>
            <a:ext cx="1463040" cy="438912"/>
          </a:xfrm>
          <a:prstGeom prst="rect">
            <a:avLst/>
          </a:prstGeom>
          <a:noFill/>
          <a:ln/>
        </p:spPr>
        <p:txBody>
          <a:bodyPr wrap="square" rtlCol="0" anchor="ctr"/>
          <a:lstStyle/>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Forecast, Outlook, Insights,</a:t>
            </a:r>
            <a:endParaRPr lang="en-US" sz="800" dirty="0"/>
          </a:p>
          <a:p>
            <a:pPr indent="0" marL="0">
              <a:lnSpc>
                <a:spcPct val="105000"/>
              </a:lnSpc>
              <a:buNone/>
            </a:pPr>
            <a:r>
              <a:rPr lang="en-US" sz="800" dirty="0">
                <a:solidFill>
                  <a:srgbClr val="707C8C"/>
                </a:solidFill>
                <a:latin typeface="Calibri" pitchFamily="34" charset="0"/>
                <a:ea typeface="Calibri" pitchFamily="34" charset="-122"/>
                <a:cs typeface="Calibri" pitchFamily="34" charset="-120"/>
              </a:rPr>
              <a:t>Models, Live Ops + Overview</a:t>
            </a:r>
            <a:endParaRPr lang="en-US" sz="800" dirty="0"/>
          </a:p>
        </p:txBody>
      </p:sp>
      <p:sp>
        <p:nvSpPr>
          <p:cNvPr id="49" name="Shape 40"/>
          <p:cNvSpPr/>
          <p:nvPr/>
        </p:nvSpPr>
        <p:spPr>
          <a:xfrm>
            <a:off x="548640" y="5495544"/>
            <a:ext cx="10469880" cy="457200"/>
          </a:xfrm>
          <a:prstGeom prst="roundRect">
            <a:avLst>
              <a:gd name="adj" fmla="val 20000"/>
            </a:avLst>
          </a:prstGeom>
          <a:solidFill>
            <a:srgbClr val="FFF4E0"/>
          </a:solidFill>
          <a:ln w="12700">
            <a:solidFill>
              <a:srgbClr val="F0DCAE"/>
            </a:solidFill>
            <a:prstDash val="solid"/>
          </a:ln>
        </p:spPr>
      </p:sp>
      <p:sp>
        <p:nvSpPr>
          <p:cNvPr id="50" name="Text 41"/>
          <p:cNvSpPr/>
          <p:nvPr/>
        </p:nvSpPr>
        <p:spPr>
          <a:xfrm>
            <a:off x="548640" y="5495544"/>
            <a:ext cx="10469880" cy="457200"/>
          </a:xfrm>
          <a:prstGeom prst="rect">
            <a:avLst/>
          </a:prstGeom>
          <a:noFill/>
          <a:ln/>
        </p:spPr>
        <p:txBody>
          <a:bodyPr wrap="square" rtlCol="0" anchor="ctr"/>
          <a:lstStyle/>
          <a:p>
            <a:pPr algn="ctr" indent="0" marL="0">
              <a:buNone/>
            </a:pPr>
            <a:r>
              <a:rPr lang="en-US" sz="1150" b="1" dirty="0">
                <a:solidFill>
                  <a:srgbClr val="7A4C0C"/>
                </a:solidFill>
                <a:latin typeface="Calibri" pitchFamily="34" charset="0"/>
                <a:ea typeface="Calibri" pitchFamily="34" charset="-122"/>
                <a:cs typeface="Calibri" pitchFamily="34" charset="-120"/>
              </a:rPr>
              <a:t>No server. No database. No API keys. Deploys as static files to GitHub Pages or Netlify in minutes.</a:t>
            </a:r>
            <a:endParaRPr lang="en-US" sz="1150" dirty="0"/>
          </a:p>
        </p:txBody>
      </p:sp>
      <p:sp>
        <p:nvSpPr>
          <p:cNvPr id="51" name="Text 42"/>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5A6472"/>
                </a:solidFill>
                <a:latin typeface="Cambria" pitchFamily="34" charset="0"/>
                <a:ea typeface="Cambria" pitchFamily="34" charset="-122"/>
                <a:cs typeface="Cambria" pitchFamily="34" charset="-120"/>
              </a:rPr>
              <a:t>EVENTPULSE</a:t>
            </a:r>
            <a:endParaRPr lang="en-US" sz="1000" dirty="0"/>
          </a:p>
        </p:txBody>
      </p:sp>
      <p:sp>
        <p:nvSpPr>
          <p:cNvPr id="52" name="Text 43"/>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8A6B2E"/>
                </a:solidFill>
                <a:latin typeface="Calibri" pitchFamily="34" charset="0"/>
                <a:ea typeface="Calibri" pitchFamily="34" charset="-122"/>
                <a:cs typeface="Calibri" pitchFamily="34" charset="-120"/>
              </a:rPr>
              <a:t>TECHNICAL ARCHITECTURE — MODELS &amp; TRAINING</a:t>
            </a:r>
            <a:endParaRPr lang="en-US" sz="1150" dirty="0"/>
          </a:p>
        </p:txBody>
      </p:sp>
      <p:sp>
        <p:nvSpPr>
          <p:cNvPr id="3" name="Text 1"/>
          <p:cNvSpPr/>
          <p:nvPr/>
        </p:nvSpPr>
        <p:spPr>
          <a:xfrm>
            <a:off x="548640" y="640080"/>
            <a:ext cx="10789920" cy="640080"/>
          </a:xfrm>
          <a:prstGeom prst="rect">
            <a:avLst/>
          </a:prstGeom>
          <a:noFill/>
          <a:ln/>
        </p:spPr>
        <p:txBody>
          <a:bodyPr wrap="square" lIns="0" tIns="0" rIns="0" bIns="0" rtlCol="0" anchor="ctr"/>
          <a:lstStyle/>
          <a:p>
            <a:pPr indent="0" marL="0">
              <a:buNone/>
            </a:pPr>
            <a:r>
              <a:rPr lang="en-US" sz="2800" b="1" dirty="0">
                <a:solidFill>
                  <a:srgbClr val="161A1F"/>
                </a:solidFill>
                <a:latin typeface="Cambria" pitchFamily="34" charset="0"/>
                <a:ea typeface="Cambria" pitchFamily="34" charset="-122"/>
                <a:cs typeface="Cambria" pitchFamily="34" charset="-120"/>
              </a:rPr>
              <a:t>Two real, validated models — and the honest numbers</a:t>
            </a:r>
            <a:endParaRPr lang="en-US" sz="2800" dirty="0"/>
          </a:p>
        </p:txBody>
      </p:sp>
      <p:sp>
        <p:nvSpPr>
          <p:cNvPr id="4" name="Shape 2"/>
          <p:cNvSpPr/>
          <p:nvPr/>
        </p:nvSpPr>
        <p:spPr>
          <a:xfrm>
            <a:off x="548640" y="1371600"/>
            <a:ext cx="5257800" cy="4251960"/>
          </a:xfrm>
          <a:prstGeom prst="roundRect">
            <a:avLst>
              <a:gd name="adj" fmla="val 2151"/>
            </a:avLst>
          </a:prstGeom>
          <a:solidFill>
            <a:srgbClr val="1B2027"/>
          </a:solidFill>
          <a:ln/>
          <a:effectLst>
            <a:outerShdw sx="100000" sy="100000" kx="0" ky="0" algn="bl" rotWithShape="0" blurRad="88900" dist="38100" dir="5400000">
              <a:srgbClr val="000000">
                <a:alpha val="12000"/>
              </a:srgbClr>
            </a:outerShdw>
          </a:effectLst>
        </p:spPr>
      </p:sp>
      <p:sp>
        <p:nvSpPr>
          <p:cNvPr id="5" name="Text 3"/>
          <p:cNvSpPr/>
          <p:nvPr/>
        </p:nvSpPr>
        <p:spPr>
          <a:xfrm>
            <a:off x="822960" y="1572768"/>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CLOSURE RISK MODEL</a:t>
            </a:r>
            <a:endParaRPr lang="en-US" sz="1400" dirty="0"/>
          </a:p>
        </p:txBody>
      </p:sp>
      <p:sp>
        <p:nvSpPr>
          <p:cNvPr id="6" name="Text 4"/>
          <p:cNvSpPr/>
          <p:nvPr/>
        </p:nvSpPr>
        <p:spPr>
          <a:xfrm>
            <a:off x="822960" y="1572768"/>
            <a:ext cx="4709160" cy="274320"/>
          </a:xfrm>
          <a:prstGeom prst="rect">
            <a:avLst/>
          </a:prstGeom>
          <a:noFill/>
          <a:ln/>
        </p:spPr>
        <p:txBody>
          <a:bodyPr wrap="square" rtlCol="0" anchor="ctr"/>
          <a:lstStyle/>
          <a:p>
            <a:pPr algn="r" indent="0" marL="0">
              <a:buNone/>
            </a:pPr>
            <a:r>
              <a:rPr lang="en-US" sz="950" dirty="0">
                <a:solidFill>
                  <a:srgbClr val="AAB3C0"/>
                </a:solidFill>
                <a:latin typeface="Courier New" pitchFamily="34" charset="0"/>
                <a:ea typeface="Courier New" pitchFamily="34" charset="-122"/>
                <a:cs typeface="Courier New" pitchFamily="34" charset="-120"/>
              </a:rPr>
              <a:t>Logistic Regression</a:t>
            </a:r>
            <a:endParaRPr lang="en-US" sz="950" dirty="0"/>
          </a:p>
        </p:txBody>
      </p:sp>
      <p:sp>
        <p:nvSpPr>
          <p:cNvPr id="7" name="Text 5"/>
          <p:cNvSpPr/>
          <p:nvPr/>
        </p:nvSpPr>
        <p:spPr>
          <a:xfrm>
            <a:off x="82296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0.76</a:t>
            </a:r>
            <a:endParaRPr lang="en-US" sz="2200" dirty="0"/>
          </a:p>
        </p:txBody>
      </p:sp>
      <p:sp>
        <p:nvSpPr>
          <p:cNvPr id="8" name="Text 6"/>
          <p:cNvSpPr/>
          <p:nvPr/>
        </p:nvSpPr>
        <p:spPr>
          <a:xfrm>
            <a:off x="82296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HOLDOUT AUC</a:t>
            </a:r>
            <a:endParaRPr lang="en-US" sz="850" dirty="0"/>
          </a:p>
        </p:txBody>
      </p:sp>
      <p:sp>
        <p:nvSpPr>
          <p:cNvPr id="9" name="Text 7"/>
          <p:cNvSpPr/>
          <p:nvPr/>
        </p:nvSpPr>
        <p:spPr>
          <a:xfrm>
            <a:off x="251460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0.77</a:t>
            </a:r>
            <a:endParaRPr lang="en-US" sz="2200" dirty="0"/>
          </a:p>
        </p:txBody>
      </p:sp>
      <p:sp>
        <p:nvSpPr>
          <p:cNvPr id="10" name="Text 8"/>
          <p:cNvSpPr/>
          <p:nvPr/>
        </p:nvSpPr>
        <p:spPr>
          <a:xfrm>
            <a:off x="251460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5-FOLD CV AUC</a:t>
            </a:r>
            <a:endParaRPr lang="en-US" sz="850" dirty="0"/>
          </a:p>
        </p:txBody>
      </p:sp>
      <p:sp>
        <p:nvSpPr>
          <p:cNvPr id="11" name="Text 9"/>
          <p:cNvSpPr/>
          <p:nvPr/>
        </p:nvSpPr>
        <p:spPr>
          <a:xfrm>
            <a:off x="420624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0.76</a:t>
            </a:r>
            <a:endParaRPr lang="en-US" sz="2200" dirty="0"/>
          </a:p>
        </p:txBody>
      </p:sp>
      <p:sp>
        <p:nvSpPr>
          <p:cNvPr id="12" name="Text 10"/>
          <p:cNvSpPr/>
          <p:nvPr/>
        </p:nvSpPr>
        <p:spPr>
          <a:xfrm>
            <a:off x="420624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RF BENCHMARK</a:t>
            </a:r>
            <a:endParaRPr lang="en-US" sz="850" dirty="0"/>
          </a:p>
        </p:txBody>
      </p:sp>
      <p:sp>
        <p:nvSpPr>
          <p:cNvPr id="13" name="Text 11"/>
          <p:cNvSpPr/>
          <p:nvPr/>
        </p:nvSpPr>
        <p:spPr>
          <a:xfrm>
            <a:off x="822960" y="2788920"/>
            <a:ext cx="4709160" cy="914400"/>
          </a:xfrm>
          <a:prstGeom prst="rect">
            <a:avLst/>
          </a:prstGeom>
          <a:noFill/>
          <a:ln/>
        </p:spPr>
        <p:txBody>
          <a:bodyPr wrap="square" rtlCol="0" anchor="ctr"/>
          <a:lstStyle/>
          <a:p>
            <a:pPr indent="0" marL="0">
              <a:lnSpc>
                <a:spcPct val="125000"/>
              </a:lnSpc>
              <a:buNone/>
            </a:pPr>
            <a:r>
              <a:rPr lang="en-US" sz="1050" dirty="0">
                <a:solidFill>
                  <a:srgbClr val="AAB3C0"/>
                </a:solidFill>
                <a:latin typeface="Calibri" pitchFamily="34" charset="0"/>
                <a:ea typeface="Calibri" pitchFamily="34" charset="-122"/>
                <a:cs typeface="Calibri" pitchFamily="34" charset="-120"/>
              </a:rPr>
              <a:t>Predicts P(road closure required) for a cause + corridor + time-of-day + planned/unplanned combination — trained on 8,173 events, never on priority (see right). Base rate: 8% of historical events required a closure.</a:t>
            </a:r>
            <a:endParaRPr lang="en-US" sz="1050" dirty="0"/>
          </a:p>
        </p:txBody>
      </p:sp>
      <p:sp>
        <p:nvSpPr>
          <p:cNvPr id="14" name="Text 12"/>
          <p:cNvSpPr/>
          <p:nvPr/>
        </p:nvSpPr>
        <p:spPr>
          <a:xfrm>
            <a:off x="822960" y="3977640"/>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Cause</a:t>
            </a:r>
            <a:endParaRPr lang="en-US" sz="950" dirty="0"/>
          </a:p>
        </p:txBody>
      </p:sp>
      <p:sp>
        <p:nvSpPr>
          <p:cNvPr id="15" name="Shape 13"/>
          <p:cNvSpPr/>
          <p:nvPr/>
        </p:nvSpPr>
        <p:spPr>
          <a:xfrm>
            <a:off x="2057400" y="4032504"/>
            <a:ext cx="3108960" cy="109728"/>
          </a:xfrm>
          <a:prstGeom prst="roundRect">
            <a:avLst>
              <a:gd name="adj" fmla="val 50000"/>
            </a:avLst>
          </a:prstGeom>
          <a:solidFill>
            <a:srgbClr val="232A33"/>
          </a:solidFill>
          <a:ln/>
        </p:spPr>
      </p:sp>
      <p:sp>
        <p:nvSpPr>
          <p:cNvPr id="16" name="Shape 14"/>
          <p:cNvSpPr/>
          <p:nvPr/>
        </p:nvSpPr>
        <p:spPr>
          <a:xfrm>
            <a:off x="2057400" y="4032504"/>
            <a:ext cx="1430122" cy="109728"/>
          </a:xfrm>
          <a:prstGeom prst="roundRect">
            <a:avLst>
              <a:gd name="adj" fmla="val 50000"/>
            </a:avLst>
          </a:prstGeom>
          <a:solidFill>
            <a:srgbClr val="F2A93B"/>
          </a:solidFill>
          <a:ln/>
        </p:spPr>
      </p:sp>
      <p:sp>
        <p:nvSpPr>
          <p:cNvPr id="17" name="Text 15"/>
          <p:cNvSpPr/>
          <p:nvPr/>
        </p:nvSpPr>
        <p:spPr>
          <a:xfrm>
            <a:off x="5212080" y="3941064"/>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46%</a:t>
            </a:r>
            <a:endParaRPr lang="en-US" sz="900" dirty="0"/>
          </a:p>
        </p:txBody>
      </p:sp>
      <p:sp>
        <p:nvSpPr>
          <p:cNvPr id="18" name="Text 16"/>
          <p:cNvSpPr/>
          <p:nvPr/>
        </p:nvSpPr>
        <p:spPr>
          <a:xfrm>
            <a:off x="822960" y="4288536"/>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Corridor</a:t>
            </a:r>
            <a:endParaRPr lang="en-US" sz="950" dirty="0"/>
          </a:p>
        </p:txBody>
      </p:sp>
      <p:sp>
        <p:nvSpPr>
          <p:cNvPr id="19" name="Shape 17"/>
          <p:cNvSpPr/>
          <p:nvPr/>
        </p:nvSpPr>
        <p:spPr>
          <a:xfrm>
            <a:off x="2057400" y="4343400"/>
            <a:ext cx="3108960" cy="109728"/>
          </a:xfrm>
          <a:prstGeom prst="roundRect">
            <a:avLst>
              <a:gd name="adj" fmla="val 50000"/>
            </a:avLst>
          </a:prstGeom>
          <a:solidFill>
            <a:srgbClr val="232A33"/>
          </a:solidFill>
          <a:ln/>
        </p:spPr>
      </p:sp>
      <p:sp>
        <p:nvSpPr>
          <p:cNvPr id="20" name="Shape 18"/>
          <p:cNvSpPr/>
          <p:nvPr/>
        </p:nvSpPr>
        <p:spPr>
          <a:xfrm>
            <a:off x="2057400" y="4343400"/>
            <a:ext cx="746150" cy="109728"/>
          </a:xfrm>
          <a:prstGeom prst="roundRect">
            <a:avLst>
              <a:gd name="adj" fmla="val 50000"/>
            </a:avLst>
          </a:prstGeom>
          <a:solidFill>
            <a:srgbClr val="F2A93B"/>
          </a:solidFill>
          <a:ln/>
        </p:spPr>
      </p:sp>
      <p:sp>
        <p:nvSpPr>
          <p:cNvPr id="21" name="Text 19"/>
          <p:cNvSpPr/>
          <p:nvPr/>
        </p:nvSpPr>
        <p:spPr>
          <a:xfrm>
            <a:off x="5212080" y="4251960"/>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24%</a:t>
            </a:r>
            <a:endParaRPr lang="en-US" sz="900" dirty="0"/>
          </a:p>
        </p:txBody>
      </p:sp>
      <p:sp>
        <p:nvSpPr>
          <p:cNvPr id="22" name="Text 20"/>
          <p:cNvSpPr/>
          <p:nvPr/>
        </p:nvSpPr>
        <p:spPr>
          <a:xfrm>
            <a:off x="822960" y="4599432"/>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Planned?</a:t>
            </a:r>
            <a:endParaRPr lang="en-US" sz="950" dirty="0"/>
          </a:p>
        </p:txBody>
      </p:sp>
      <p:sp>
        <p:nvSpPr>
          <p:cNvPr id="23" name="Shape 21"/>
          <p:cNvSpPr/>
          <p:nvPr/>
        </p:nvSpPr>
        <p:spPr>
          <a:xfrm>
            <a:off x="2057400" y="4654296"/>
            <a:ext cx="3108960" cy="109728"/>
          </a:xfrm>
          <a:prstGeom prst="roundRect">
            <a:avLst>
              <a:gd name="adj" fmla="val 50000"/>
            </a:avLst>
          </a:prstGeom>
          <a:solidFill>
            <a:srgbClr val="232A33"/>
          </a:solidFill>
          <a:ln/>
        </p:spPr>
      </p:sp>
      <p:sp>
        <p:nvSpPr>
          <p:cNvPr id="24" name="Shape 22"/>
          <p:cNvSpPr/>
          <p:nvPr/>
        </p:nvSpPr>
        <p:spPr>
          <a:xfrm>
            <a:off x="2057400" y="4654296"/>
            <a:ext cx="621792" cy="109728"/>
          </a:xfrm>
          <a:prstGeom prst="roundRect">
            <a:avLst>
              <a:gd name="adj" fmla="val 50000"/>
            </a:avLst>
          </a:prstGeom>
          <a:solidFill>
            <a:srgbClr val="F2A93B"/>
          </a:solidFill>
          <a:ln/>
        </p:spPr>
      </p:sp>
      <p:sp>
        <p:nvSpPr>
          <p:cNvPr id="25" name="Text 23"/>
          <p:cNvSpPr/>
          <p:nvPr/>
        </p:nvSpPr>
        <p:spPr>
          <a:xfrm>
            <a:off x="5212080" y="4562856"/>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20%</a:t>
            </a:r>
            <a:endParaRPr lang="en-US" sz="900" dirty="0"/>
          </a:p>
        </p:txBody>
      </p:sp>
      <p:sp>
        <p:nvSpPr>
          <p:cNvPr id="26" name="Text 24"/>
          <p:cNvSpPr/>
          <p:nvPr/>
        </p:nvSpPr>
        <p:spPr>
          <a:xfrm>
            <a:off x="822960" y="4910328"/>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Time of Day</a:t>
            </a:r>
            <a:endParaRPr lang="en-US" sz="950" dirty="0"/>
          </a:p>
        </p:txBody>
      </p:sp>
      <p:sp>
        <p:nvSpPr>
          <p:cNvPr id="27" name="Shape 25"/>
          <p:cNvSpPr/>
          <p:nvPr/>
        </p:nvSpPr>
        <p:spPr>
          <a:xfrm>
            <a:off x="2057400" y="4965192"/>
            <a:ext cx="3108960" cy="109728"/>
          </a:xfrm>
          <a:prstGeom prst="roundRect">
            <a:avLst>
              <a:gd name="adj" fmla="val 50000"/>
            </a:avLst>
          </a:prstGeom>
          <a:solidFill>
            <a:srgbClr val="232A33"/>
          </a:solidFill>
          <a:ln/>
        </p:spPr>
      </p:sp>
      <p:sp>
        <p:nvSpPr>
          <p:cNvPr id="28" name="Shape 26"/>
          <p:cNvSpPr/>
          <p:nvPr/>
        </p:nvSpPr>
        <p:spPr>
          <a:xfrm>
            <a:off x="2057400" y="4965192"/>
            <a:ext cx="310896" cy="109728"/>
          </a:xfrm>
          <a:prstGeom prst="roundRect">
            <a:avLst>
              <a:gd name="adj" fmla="val 50000"/>
            </a:avLst>
          </a:prstGeom>
          <a:solidFill>
            <a:srgbClr val="F2A93B"/>
          </a:solidFill>
          <a:ln/>
        </p:spPr>
      </p:sp>
      <p:sp>
        <p:nvSpPr>
          <p:cNvPr id="29" name="Text 27"/>
          <p:cNvSpPr/>
          <p:nvPr/>
        </p:nvSpPr>
        <p:spPr>
          <a:xfrm>
            <a:off x="5212080" y="4873752"/>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10%</a:t>
            </a:r>
            <a:endParaRPr lang="en-US" sz="900" dirty="0"/>
          </a:p>
        </p:txBody>
      </p:sp>
      <p:sp>
        <p:nvSpPr>
          <p:cNvPr id="30" name="Text 28"/>
          <p:cNvSpPr/>
          <p:nvPr/>
        </p:nvSpPr>
        <p:spPr>
          <a:xfrm>
            <a:off x="822960" y="5276088"/>
            <a:ext cx="4709160" cy="274320"/>
          </a:xfrm>
          <a:prstGeom prst="rect">
            <a:avLst/>
          </a:prstGeom>
          <a:noFill/>
          <a:ln/>
        </p:spPr>
        <p:txBody>
          <a:bodyPr wrap="square"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Feature importance (Random Forest benchmark)</a:t>
            </a:r>
            <a:endParaRPr lang="en-US" sz="850" dirty="0"/>
          </a:p>
        </p:txBody>
      </p:sp>
      <p:sp>
        <p:nvSpPr>
          <p:cNvPr id="31" name="Shape 29"/>
          <p:cNvSpPr/>
          <p:nvPr/>
        </p:nvSpPr>
        <p:spPr>
          <a:xfrm>
            <a:off x="6080760" y="1371600"/>
            <a:ext cx="5257800" cy="4251960"/>
          </a:xfrm>
          <a:prstGeom prst="roundRect">
            <a:avLst>
              <a:gd name="adj" fmla="val 2151"/>
            </a:avLst>
          </a:prstGeom>
          <a:solidFill>
            <a:srgbClr val="1B2027"/>
          </a:solidFill>
          <a:ln/>
          <a:effectLst>
            <a:outerShdw sx="100000" sy="100000" kx="0" ky="0" algn="bl" rotWithShape="0" blurRad="88900" dist="38100" dir="5400000">
              <a:srgbClr val="000000">
                <a:alpha val="12000"/>
              </a:srgbClr>
            </a:outerShdw>
          </a:effectLst>
        </p:spPr>
      </p:sp>
      <p:sp>
        <p:nvSpPr>
          <p:cNvPr id="32" name="Text 30"/>
          <p:cNvSpPr/>
          <p:nvPr/>
        </p:nvSpPr>
        <p:spPr>
          <a:xfrm>
            <a:off x="6355080" y="1572768"/>
            <a:ext cx="320040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DURATION MODEL</a:t>
            </a:r>
            <a:endParaRPr lang="en-US" sz="1400" dirty="0"/>
          </a:p>
        </p:txBody>
      </p:sp>
      <p:sp>
        <p:nvSpPr>
          <p:cNvPr id="33" name="Text 31"/>
          <p:cNvSpPr/>
          <p:nvPr/>
        </p:nvSpPr>
        <p:spPr>
          <a:xfrm>
            <a:off x="6355080" y="1572768"/>
            <a:ext cx="4709160" cy="274320"/>
          </a:xfrm>
          <a:prstGeom prst="rect">
            <a:avLst/>
          </a:prstGeom>
          <a:noFill/>
          <a:ln/>
        </p:spPr>
        <p:txBody>
          <a:bodyPr wrap="square" rtlCol="0" anchor="ctr"/>
          <a:lstStyle/>
          <a:p>
            <a:pPr algn="r" indent="0" marL="0">
              <a:buNone/>
            </a:pPr>
            <a:r>
              <a:rPr lang="en-US" sz="950" dirty="0">
                <a:solidFill>
                  <a:srgbClr val="AAB3C0"/>
                </a:solidFill>
                <a:latin typeface="Courier New" pitchFamily="34" charset="0"/>
                <a:ea typeface="Courier New" pitchFamily="34" charset="-122"/>
                <a:cs typeface="Courier New" pitchFamily="34" charset="-120"/>
              </a:rPr>
              <a:t>Ridge Regression</a:t>
            </a:r>
            <a:endParaRPr lang="en-US" sz="950" dirty="0"/>
          </a:p>
        </p:txBody>
      </p:sp>
      <p:sp>
        <p:nvSpPr>
          <p:cNvPr id="34" name="Text 32"/>
          <p:cNvSpPr/>
          <p:nvPr/>
        </p:nvSpPr>
        <p:spPr>
          <a:xfrm>
            <a:off x="635508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1.82h</a:t>
            </a:r>
            <a:endParaRPr lang="en-US" sz="2200" dirty="0"/>
          </a:p>
        </p:txBody>
      </p:sp>
      <p:sp>
        <p:nvSpPr>
          <p:cNvPr id="35" name="Text 33"/>
          <p:cNvSpPr/>
          <p:nvPr/>
        </p:nvSpPr>
        <p:spPr>
          <a:xfrm>
            <a:off x="635508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HOLDOUT MAE</a:t>
            </a:r>
            <a:endParaRPr lang="en-US" sz="850" dirty="0"/>
          </a:p>
        </p:txBody>
      </p:sp>
      <p:sp>
        <p:nvSpPr>
          <p:cNvPr id="36" name="Text 34"/>
          <p:cNvSpPr/>
          <p:nvPr/>
        </p:nvSpPr>
        <p:spPr>
          <a:xfrm>
            <a:off x="804672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0.08</a:t>
            </a:r>
            <a:endParaRPr lang="en-US" sz="2200" dirty="0"/>
          </a:p>
        </p:txBody>
      </p:sp>
      <p:sp>
        <p:nvSpPr>
          <p:cNvPr id="37" name="Text 35"/>
          <p:cNvSpPr/>
          <p:nvPr/>
        </p:nvSpPr>
        <p:spPr>
          <a:xfrm>
            <a:off x="804672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5-FOLD CV R²</a:t>
            </a:r>
            <a:endParaRPr lang="en-US" sz="850" dirty="0"/>
          </a:p>
        </p:txBody>
      </p:sp>
      <p:sp>
        <p:nvSpPr>
          <p:cNvPr id="38" name="Text 36"/>
          <p:cNvSpPr/>
          <p:nvPr/>
        </p:nvSpPr>
        <p:spPr>
          <a:xfrm>
            <a:off x="9738360" y="1938528"/>
            <a:ext cx="1554480" cy="384048"/>
          </a:xfrm>
          <a:prstGeom prst="rect">
            <a:avLst/>
          </a:prstGeom>
          <a:noFill/>
          <a:ln/>
        </p:spPr>
        <p:txBody>
          <a:bodyPr wrap="square" lIns="0" tIns="0" rIns="0" bIns="0" rtlCol="0" anchor="ctr"/>
          <a:lstStyle/>
          <a:p>
            <a:pPr indent="0" marL="0">
              <a:buNone/>
            </a:pPr>
            <a:r>
              <a:rPr lang="en-US" sz="2200" b="1" dirty="0">
                <a:solidFill>
                  <a:srgbClr val="FFFFFF"/>
                </a:solidFill>
                <a:latin typeface="Courier New" pitchFamily="34" charset="0"/>
                <a:ea typeface="Courier New" pitchFamily="34" charset="-122"/>
                <a:cs typeface="Courier New" pitchFamily="34" charset="-120"/>
              </a:rPr>
              <a:t>3.7%</a:t>
            </a:r>
            <a:endParaRPr lang="en-US" sz="2200" dirty="0"/>
          </a:p>
        </p:txBody>
      </p:sp>
      <p:sp>
        <p:nvSpPr>
          <p:cNvPr id="39" name="Text 37"/>
          <p:cNvSpPr/>
          <p:nvPr/>
        </p:nvSpPr>
        <p:spPr>
          <a:xfrm>
            <a:off x="9738360" y="2340864"/>
            <a:ext cx="1554480" cy="274320"/>
          </a:xfrm>
          <a:prstGeom prst="rect">
            <a:avLst/>
          </a:prstGeom>
          <a:noFill/>
          <a:ln/>
        </p:spPr>
        <p:txBody>
          <a:bodyPr wrap="square" rtlCol="0" anchor="ctr"/>
          <a:lstStyle/>
          <a:p>
            <a:pPr indent="0" marL="0">
              <a:buNone/>
            </a:pPr>
            <a:r>
              <a:rPr lang="en-US" sz="850" dirty="0">
                <a:solidFill>
                  <a:srgbClr val="8089A0"/>
                </a:solidFill>
                <a:latin typeface="Calibri" pitchFamily="34" charset="0"/>
                <a:ea typeface="Calibri" pitchFamily="34" charset="-122"/>
                <a:cs typeface="Calibri" pitchFamily="34" charset="-120"/>
              </a:rPr>
              <a:t>VS NAIVE MEDIAN</a:t>
            </a:r>
            <a:endParaRPr lang="en-US" sz="850" dirty="0"/>
          </a:p>
        </p:txBody>
      </p:sp>
      <p:sp>
        <p:nvSpPr>
          <p:cNvPr id="40" name="Text 38"/>
          <p:cNvSpPr/>
          <p:nvPr/>
        </p:nvSpPr>
        <p:spPr>
          <a:xfrm>
            <a:off x="6355080" y="2788920"/>
            <a:ext cx="4709160" cy="914400"/>
          </a:xfrm>
          <a:prstGeom prst="rect">
            <a:avLst/>
          </a:prstGeom>
          <a:noFill/>
          <a:ln/>
        </p:spPr>
        <p:txBody>
          <a:bodyPr wrap="square" rtlCol="0" anchor="ctr"/>
          <a:lstStyle/>
          <a:p>
            <a:pPr indent="0" marL="0">
              <a:lnSpc>
                <a:spcPct val="125000"/>
              </a:lnSpc>
              <a:buNone/>
            </a:pPr>
            <a:r>
              <a:rPr lang="en-US" sz="1050" dirty="0">
                <a:solidFill>
                  <a:srgbClr val="AAB3C0"/>
                </a:solidFill>
                <a:latin typeface="Calibri" pitchFamily="34" charset="0"/>
                <a:ea typeface="Calibri" pitchFamily="34" charset="-122"/>
                <a:cs typeface="Calibri" pitchFamily="34" charset="-120"/>
              </a:rPr>
              <a:t>Duration is the noisiest signal in this dataset — even the Random Forest benchmark only reaches R²=0.09. Rather than overclaim, the duration is always shown as a range, never a single false-confidence number.</a:t>
            </a:r>
            <a:endParaRPr lang="en-US" sz="1050" dirty="0"/>
          </a:p>
        </p:txBody>
      </p:sp>
      <p:sp>
        <p:nvSpPr>
          <p:cNvPr id="41" name="Text 39"/>
          <p:cNvSpPr/>
          <p:nvPr/>
        </p:nvSpPr>
        <p:spPr>
          <a:xfrm>
            <a:off x="6355080" y="3977640"/>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Corridor</a:t>
            </a:r>
            <a:endParaRPr lang="en-US" sz="950" dirty="0"/>
          </a:p>
        </p:txBody>
      </p:sp>
      <p:sp>
        <p:nvSpPr>
          <p:cNvPr id="42" name="Shape 40"/>
          <p:cNvSpPr/>
          <p:nvPr/>
        </p:nvSpPr>
        <p:spPr>
          <a:xfrm>
            <a:off x="7589520" y="4032504"/>
            <a:ext cx="3108960" cy="109728"/>
          </a:xfrm>
          <a:prstGeom prst="roundRect">
            <a:avLst>
              <a:gd name="adj" fmla="val 50000"/>
            </a:avLst>
          </a:prstGeom>
          <a:solidFill>
            <a:srgbClr val="232A33"/>
          </a:solidFill>
          <a:ln/>
        </p:spPr>
      </p:sp>
      <p:sp>
        <p:nvSpPr>
          <p:cNvPr id="43" name="Shape 41"/>
          <p:cNvSpPr/>
          <p:nvPr/>
        </p:nvSpPr>
        <p:spPr>
          <a:xfrm>
            <a:off x="7589520" y="4032504"/>
            <a:ext cx="1119226" cy="109728"/>
          </a:xfrm>
          <a:prstGeom prst="roundRect">
            <a:avLst>
              <a:gd name="adj" fmla="val 50000"/>
            </a:avLst>
          </a:prstGeom>
          <a:solidFill>
            <a:srgbClr val="F2A93B"/>
          </a:solidFill>
          <a:ln/>
        </p:spPr>
      </p:sp>
      <p:sp>
        <p:nvSpPr>
          <p:cNvPr id="44" name="Text 42"/>
          <p:cNvSpPr/>
          <p:nvPr/>
        </p:nvSpPr>
        <p:spPr>
          <a:xfrm>
            <a:off x="10744200" y="3941064"/>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36%</a:t>
            </a:r>
            <a:endParaRPr lang="en-US" sz="900" dirty="0"/>
          </a:p>
        </p:txBody>
      </p:sp>
      <p:sp>
        <p:nvSpPr>
          <p:cNvPr id="45" name="Text 43"/>
          <p:cNvSpPr/>
          <p:nvPr/>
        </p:nvSpPr>
        <p:spPr>
          <a:xfrm>
            <a:off x="6355080" y="4288536"/>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Cause</a:t>
            </a:r>
            <a:endParaRPr lang="en-US" sz="950" dirty="0"/>
          </a:p>
        </p:txBody>
      </p:sp>
      <p:sp>
        <p:nvSpPr>
          <p:cNvPr id="46" name="Shape 44"/>
          <p:cNvSpPr/>
          <p:nvPr/>
        </p:nvSpPr>
        <p:spPr>
          <a:xfrm>
            <a:off x="7589520" y="4343400"/>
            <a:ext cx="3108960" cy="109728"/>
          </a:xfrm>
          <a:prstGeom prst="roundRect">
            <a:avLst>
              <a:gd name="adj" fmla="val 50000"/>
            </a:avLst>
          </a:prstGeom>
          <a:solidFill>
            <a:srgbClr val="232A33"/>
          </a:solidFill>
          <a:ln/>
        </p:spPr>
      </p:sp>
      <p:sp>
        <p:nvSpPr>
          <p:cNvPr id="47" name="Shape 45"/>
          <p:cNvSpPr/>
          <p:nvPr/>
        </p:nvSpPr>
        <p:spPr>
          <a:xfrm>
            <a:off x="7589520" y="4343400"/>
            <a:ext cx="994867" cy="109728"/>
          </a:xfrm>
          <a:prstGeom prst="roundRect">
            <a:avLst>
              <a:gd name="adj" fmla="val 50000"/>
            </a:avLst>
          </a:prstGeom>
          <a:solidFill>
            <a:srgbClr val="F2A93B"/>
          </a:solidFill>
          <a:ln/>
        </p:spPr>
      </p:sp>
      <p:sp>
        <p:nvSpPr>
          <p:cNvPr id="48" name="Text 46"/>
          <p:cNvSpPr/>
          <p:nvPr/>
        </p:nvSpPr>
        <p:spPr>
          <a:xfrm>
            <a:off x="10744200" y="4251960"/>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32%</a:t>
            </a:r>
            <a:endParaRPr lang="en-US" sz="900" dirty="0"/>
          </a:p>
        </p:txBody>
      </p:sp>
      <p:sp>
        <p:nvSpPr>
          <p:cNvPr id="49" name="Text 47"/>
          <p:cNvSpPr/>
          <p:nvPr/>
        </p:nvSpPr>
        <p:spPr>
          <a:xfrm>
            <a:off x="6355080" y="4599432"/>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Time of Day</a:t>
            </a:r>
            <a:endParaRPr lang="en-US" sz="950" dirty="0"/>
          </a:p>
        </p:txBody>
      </p:sp>
      <p:sp>
        <p:nvSpPr>
          <p:cNvPr id="50" name="Shape 48"/>
          <p:cNvSpPr/>
          <p:nvPr/>
        </p:nvSpPr>
        <p:spPr>
          <a:xfrm>
            <a:off x="7589520" y="4654296"/>
            <a:ext cx="3108960" cy="109728"/>
          </a:xfrm>
          <a:prstGeom prst="roundRect">
            <a:avLst>
              <a:gd name="adj" fmla="val 50000"/>
            </a:avLst>
          </a:prstGeom>
          <a:solidFill>
            <a:srgbClr val="232A33"/>
          </a:solidFill>
          <a:ln/>
        </p:spPr>
      </p:sp>
      <p:sp>
        <p:nvSpPr>
          <p:cNvPr id="51" name="Shape 49"/>
          <p:cNvSpPr/>
          <p:nvPr/>
        </p:nvSpPr>
        <p:spPr>
          <a:xfrm>
            <a:off x="7589520" y="4654296"/>
            <a:ext cx="590702" cy="109728"/>
          </a:xfrm>
          <a:prstGeom prst="roundRect">
            <a:avLst>
              <a:gd name="adj" fmla="val 50000"/>
            </a:avLst>
          </a:prstGeom>
          <a:solidFill>
            <a:srgbClr val="F2A93B"/>
          </a:solidFill>
          <a:ln/>
        </p:spPr>
      </p:sp>
      <p:sp>
        <p:nvSpPr>
          <p:cNvPr id="52" name="Text 50"/>
          <p:cNvSpPr/>
          <p:nvPr/>
        </p:nvSpPr>
        <p:spPr>
          <a:xfrm>
            <a:off x="10744200" y="4562856"/>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19%</a:t>
            </a:r>
            <a:endParaRPr lang="en-US" sz="900" dirty="0"/>
          </a:p>
        </p:txBody>
      </p:sp>
      <p:sp>
        <p:nvSpPr>
          <p:cNvPr id="53" name="Text 51"/>
          <p:cNvSpPr/>
          <p:nvPr/>
        </p:nvSpPr>
        <p:spPr>
          <a:xfrm>
            <a:off x="6355080" y="4910328"/>
            <a:ext cx="1188720" cy="237744"/>
          </a:xfrm>
          <a:prstGeom prst="rect">
            <a:avLst/>
          </a:prstGeom>
          <a:noFill/>
          <a:ln/>
        </p:spPr>
        <p:txBody>
          <a:bodyPr wrap="square" rtlCol="0" anchor="ctr"/>
          <a:lstStyle/>
          <a:p>
            <a:pPr indent="0" marL="0">
              <a:buNone/>
            </a:pPr>
            <a:r>
              <a:rPr lang="en-US" sz="950" dirty="0">
                <a:solidFill>
                  <a:srgbClr val="AAB3C0"/>
                </a:solidFill>
                <a:latin typeface="Calibri" pitchFamily="34" charset="0"/>
                <a:ea typeface="Calibri" pitchFamily="34" charset="-122"/>
                <a:cs typeface="Calibri" pitchFamily="34" charset="-120"/>
              </a:rPr>
              <a:t>Planned?</a:t>
            </a:r>
            <a:endParaRPr lang="en-US" sz="950" dirty="0"/>
          </a:p>
        </p:txBody>
      </p:sp>
      <p:sp>
        <p:nvSpPr>
          <p:cNvPr id="54" name="Shape 52"/>
          <p:cNvSpPr/>
          <p:nvPr/>
        </p:nvSpPr>
        <p:spPr>
          <a:xfrm>
            <a:off x="7589520" y="4965192"/>
            <a:ext cx="3108960" cy="109728"/>
          </a:xfrm>
          <a:prstGeom prst="roundRect">
            <a:avLst>
              <a:gd name="adj" fmla="val 50000"/>
            </a:avLst>
          </a:prstGeom>
          <a:solidFill>
            <a:srgbClr val="232A33"/>
          </a:solidFill>
          <a:ln/>
        </p:spPr>
      </p:sp>
      <p:sp>
        <p:nvSpPr>
          <p:cNvPr id="55" name="Shape 53"/>
          <p:cNvSpPr/>
          <p:nvPr/>
        </p:nvSpPr>
        <p:spPr>
          <a:xfrm>
            <a:off x="7589520" y="4965192"/>
            <a:ext cx="279806" cy="109728"/>
          </a:xfrm>
          <a:prstGeom prst="roundRect">
            <a:avLst>
              <a:gd name="adj" fmla="val 50000"/>
            </a:avLst>
          </a:prstGeom>
          <a:solidFill>
            <a:srgbClr val="F2A93B"/>
          </a:solidFill>
          <a:ln/>
        </p:spPr>
      </p:sp>
      <p:sp>
        <p:nvSpPr>
          <p:cNvPr id="56" name="Text 54"/>
          <p:cNvSpPr/>
          <p:nvPr/>
        </p:nvSpPr>
        <p:spPr>
          <a:xfrm>
            <a:off x="10744200" y="4873752"/>
            <a:ext cx="502920" cy="237744"/>
          </a:xfrm>
          <a:prstGeom prst="rect">
            <a:avLst/>
          </a:prstGeom>
          <a:noFill/>
          <a:ln/>
        </p:spPr>
        <p:txBody>
          <a:bodyPr wrap="square" rtlCol="0" anchor="ctr"/>
          <a:lstStyle/>
          <a:p>
            <a:pPr algn="r" indent="0" marL="0">
              <a:buNone/>
            </a:pPr>
            <a:r>
              <a:rPr lang="en-US" sz="900" dirty="0">
                <a:solidFill>
                  <a:srgbClr val="AAB3C0"/>
                </a:solidFill>
                <a:latin typeface="Courier New" pitchFamily="34" charset="0"/>
                <a:ea typeface="Courier New" pitchFamily="34" charset="-122"/>
                <a:cs typeface="Courier New" pitchFamily="34" charset="-120"/>
              </a:rPr>
              <a:t>9%</a:t>
            </a:r>
            <a:endParaRPr lang="en-US" sz="900" dirty="0"/>
          </a:p>
        </p:txBody>
      </p:sp>
      <p:sp>
        <p:nvSpPr>
          <p:cNvPr id="57" name="Text 55"/>
          <p:cNvSpPr/>
          <p:nvPr/>
        </p:nvSpPr>
        <p:spPr>
          <a:xfrm>
            <a:off x="6355080" y="5276088"/>
            <a:ext cx="4709160" cy="274320"/>
          </a:xfrm>
          <a:prstGeom prst="rect">
            <a:avLst/>
          </a:prstGeom>
          <a:noFill/>
          <a:ln/>
        </p:spPr>
        <p:txBody>
          <a:bodyPr wrap="square" rtlCol="0" anchor="ctr"/>
          <a:lstStyle/>
          <a:p>
            <a:pPr indent="0" marL="0">
              <a:buNone/>
            </a:pPr>
            <a:r>
              <a:rPr lang="en-US" sz="850" i="1" dirty="0">
                <a:solidFill>
                  <a:srgbClr val="5A6472"/>
                </a:solidFill>
                <a:latin typeface="Calibri" pitchFamily="34" charset="0"/>
                <a:ea typeface="Calibri" pitchFamily="34" charset="-122"/>
                <a:cs typeface="Calibri" pitchFamily="34" charset="-120"/>
              </a:rPr>
              <a:t>Trained on 7,402 events with a valid duration</a:t>
            </a:r>
            <a:endParaRPr lang="en-US" sz="850" dirty="0"/>
          </a:p>
        </p:txBody>
      </p:sp>
      <p:sp>
        <p:nvSpPr>
          <p:cNvPr id="58" name="Text 56"/>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5A6472"/>
                </a:solidFill>
                <a:latin typeface="Cambria" pitchFamily="34" charset="0"/>
                <a:ea typeface="Cambria" pitchFamily="34" charset="-122"/>
                <a:cs typeface="Cambria" pitchFamily="34" charset="-120"/>
              </a:rPr>
              <a:t>EVENTPULSE</a:t>
            </a:r>
            <a:endParaRPr lang="en-US" sz="1000" dirty="0"/>
          </a:p>
        </p:txBody>
      </p:sp>
      <p:sp>
        <p:nvSpPr>
          <p:cNvPr id="59" name="Text 57"/>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027"/>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F2A93B"/>
                </a:solidFill>
                <a:latin typeface="Calibri" pitchFamily="34" charset="0"/>
                <a:ea typeface="Calibri" pitchFamily="34" charset="-122"/>
                <a:cs typeface="Calibri" pitchFamily="34" charset="-120"/>
              </a:rPr>
              <a:t>INSIDE THE APPLICATION</a:t>
            </a:r>
            <a:endParaRPr lang="en-US" sz="1150" dirty="0"/>
          </a:p>
        </p:txBody>
      </p:sp>
      <p:sp>
        <p:nvSpPr>
          <p:cNvPr id="3" name="Text 1"/>
          <p:cNvSpPr/>
          <p:nvPr/>
        </p:nvSpPr>
        <p:spPr>
          <a:xfrm>
            <a:off x="548640" y="640080"/>
            <a:ext cx="1078992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Forecast &amp; Map — score an event before it happens</a:t>
            </a:r>
            <a:endParaRPr lang="en-US" sz="2400" dirty="0"/>
          </a:p>
        </p:txBody>
      </p:sp>
      <p:sp>
        <p:nvSpPr>
          <p:cNvPr id="4" name="Text 2"/>
          <p:cNvSpPr/>
          <p:nvPr/>
        </p:nvSpPr>
        <p:spPr>
          <a:xfrm>
            <a:off x="548640" y="1170432"/>
            <a:ext cx="10789920" cy="411480"/>
          </a:xfrm>
          <a:prstGeom prst="rect">
            <a:avLst/>
          </a:prstGeom>
          <a:noFill/>
          <a:ln/>
        </p:spPr>
        <p:txBody>
          <a:bodyPr wrap="square" rtlCol="0" anchor="ctr"/>
          <a:lstStyle/>
          <a:p>
            <a:pPr indent="0" marL="0">
              <a:buNone/>
            </a:pPr>
            <a:r>
              <a:rPr lang="en-US" sz="1150" dirty="0">
                <a:solidFill>
                  <a:srgbClr val="AAB3C0"/>
                </a:solidFill>
                <a:latin typeface="Calibri" pitchFamily="34" charset="0"/>
                <a:ea typeface="Calibri" pitchFamily="34" charset="-122"/>
                <a:cs typeface="Calibri" pitchFamily="34" charset="-120"/>
              </a:rPr>
              <a:t>A Large public event on Mysore Road, with a road closure: High Impact, a duration range, a personnel count, the corridor's own highest-incident junctions, and a named diversion — all on forecast.html.</a:t>
            </a:r>
            <a:endParaRPr lang="en-US" sz="1150" dirty="0"/>
          </a:p>
        </p:txBody>
      </p:sp>
      <p:pic>
        <p:nvPicPr>
          <p:cNvPr id="5" name="Image 0" descr="images/shot_forecast_clean.png">    </p:cNvPr>
          <p:cNvPicPr>
            <a:picLocks noChangeAspect="1"/>
          </p:cNvPicPr>
          <p:nvPr/>
        </p:nvPicPr>
        <p:blipFill>
          <a:blip r:embed="rId1"/>
          <a:stretch>
            <a:fillRect/>
          </a:stretch>
        </p:blipFill>
        <p:spPr>
          <a:xfrm>
            <a:off x="4710142" y="1691640"/>
            <a:ext cx="2771410" cy="5074920"/>
          </a:xfrm>
          <a:prstGeom prst="rect">
            <a:avLst/>
          </a:prstGeom>
          <a:effectLst>
            <a:outerShdw sx="100000" sy="100000" kx="0" ky="0" algn="bl" rotWithShape="0" blurRad="177800" dist="76200" dir="5400000">
              <a:srgbClr val="000000">
                <a:alpha val="45000"/>
              </a:srgbClr>
            </a:outerShdw>
          </a:effectLst>
        </p:spPr>
      </p:pic>
      <p:sp>
        <p:nvSpPr>
          <p:cNvPr id="6" name="Text 3"/>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707C8C"/>
                </a:solidFill>
                <a:latin typeface="Cambria" pitchFamily="34" charset="0"/>
                <a:ea typeface="Cambria" pitchFamily="34" charset="-122"/>
                <a:cs typeface="Cambria" pitchFamily="34" charset="-120"/>
              </a:rPr>
              <a:t>EVENTPULSE</a:t>
            </a:r>
            <a:endParaRPr lang="en-US" sz="1000" dirty="0"/>
          </a:p>
        </p:txBody>
      </p:sp>
      <p:sp>
        <p:nvSpPr>
          <p:cNvPr id="7" name="Text 4"/>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027"/>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F2A93B"/>
                </a:solidFill>
                <a:latin typeface="Calibri" pitchFamily="34" charset="0"/>
                <a:ea typeface="Calibri" pitchFamily="34" charset="-122"/>
                <a:cs typeface="Calibri" pitchFamily="34" charset="-120"/>
              </a:rPr>
              <a:t>INSIDE THE APPLICATION</a:t>
            </a:r>
            <a:endParaRPr lang="en-US" sz="1150" dirty="0"/>
          </a:p>
        </p:txBody>
      </p:sp>
      <p:sp>
        <p:nvSpPr>
          <p:cNvPr id="3" name="Text 1"/>
          <p:cNvSpPr/>
          <p:nvPr/>
        </p:nvSpPr>
        <p:spPr>
          <a:xfrm>
            <a:off x="548640" y="640080"/>
            <a:ext cx="1078992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Upcoming Outlook — what's coming, not just what's named</a:t>
            </a:r>
            <a:endParaRPr lang="en-US" sz="2400" dirty="0"/>
          </a:p>
        </p:txBody>
      </p:sp>
      <p:sp>
        <p:nvSpPr>
          <p:cNvPr id="4" name="Text 2"/>
          <p:cNvSpPr/>
          <p:nvPr/>
        </p:nvSpPr>
        <p:spPr>
          <a:xfrm>
            <a:off x="548640" y="1170432"/>
            <a:ext cx="10789920" cy="502920"/>
          </a:xfrm>
          <a:prstGeom prst="rect">
            <a:avLst/>
          </a:prstGeom>
          <a:noFill/>
          <a:ln/>
        </p:spPr>
        <p:txBody>
          <a:bodyPr wrap="square" rtlCol="0" anchor="ctr"/>
          <a:lstStyle/>
          <a:p>
            <a:pPr indent="0" marL="0">
              <a:lnSpc>
                <a:spcPct val="120000"/>
              </a:lnSpc>
              <a:buNone/>
            </a:pPr>
            <a:r>
              <a:rPr lang="en-US" sz="1150" dirty="0">
                <a:solidFill>
                  <a:srgbClr val="AAB3C0"/>
                </a:solidFill>
                <a:latin typeface="Calibri" pitchFamily="34" charset="0"/>
                <a:ea typeface="Calibri" pitchFamily="34" charset="-122"/>
                <a:cs typeface="Calibri" pitchFamily="34" charset="-120"/>
              </a:rPr>
              <a:t>Left: a 7-day statistical projection of unplanned hotspots from historical patterns. Right: known events added by hand get the same forecast, plus automatic conflict detection — here, two high-impact events on the same date and zone.</a:t>
            </a:r>
            <a:endParaRPr lang="en-US" sz="1150" dirty="0"/>
          </a:p>
        </p:txBody>
      </p:sp>
      <p:pic>
        <p:nvPicPr>
          <p:cNvPr id="5" name="Image 0" descr="images/shot_outlook.png">    </p:cNvPr>
          <p:cNvPicPr>
            <a:picLocks noChangeAspect="1"/>
          </p:cNvPicPr>
          <p:nvPr/>
        </p:nvPicPr>
        <p:blipFill>
          <a:blip r:embed="rId1"/>
          <a:stretch>
            <a:fillRect/>
          </a:stretch>
        </p:blipFill>
        <p:spPr>
          <a:xfrm>
            <a:off x="1249528" y="1828800"/>
            <a:ext cx="9692640" cy="5689466"/>
          </a:xfrm>
          <a:prstGeom prst="rect">
            <a:avLst/>
          </a:prstGeom>
          <a:effectLst>
            <a:outerShdw sx="100000" sy="100000" kx="0" ky="0" algn="bl" rotWithShape="0" blurRad="177800" dist="76200" dir="5400000">
              <a:srgbClr val="000000">
                <a:alpha val="45000"/>
              </a:srgbClr>
            </a:outerShdw>
          </a:effectLst>
        </p:spPr>
      </p:pic>
      <p:sp>
        <p:nvSpPr>
          <p:cNvPr id="6" name="Text 3"/>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707C8C"/>
                </a:solidFill>
                <a:latin typeface="Cambria" pitchFamily="34" charset="0"/>
                <a:ea typeface="Cambria" pitchFamily="34" charset="-122"/>
                <a:cs typeface="Cambria" pitchFamily="34" charset="-120"/>
              </a:rPr>
              <a:t>EVENTPULSE</a:t>
            </a:r>
            <a:endParaRPr lang="en-US" sz="1000" dirty="0"/>
          </a:p>
        </p:txBody>
      </p:sp>
      <p:sp>
        <p:nvSpPr>
          <p:cNvPr id="7" name="Text 4"/>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B2027"/>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F2A93B"/>
                </a:solidFill>
                <a:latin typeface="Calibri" pitchFamily="34" charset="0"/>
                <a:ea typeface="Calibri" pitchFamily="34" charset="-122"/>
                <a:cs typeface="Calibri" pitchFamily="34" charset="-120"/>
              </a:rPr>
              <a:t>INSIDE THE APPLICATION</a:t>
            </a:r>
            <a:endParaRPr lang="en-US" sz="1150" dirty="0"/>
          </a:p>
        </p:txBody>
      </p:sp>
      <p:sp>
        <p:nvSpPr>
          <p:cNvPr id="3" name="Text 1"/>
          <p:cNvSpPr/>
          <p:nvPr/>
        </p:nvSpPr>
        <p:spPr>
          <a:xfrm>
            <a:off x="548640" y="640080"/>
            <a:ext cx="10789920" cy="502920"/>
          </a:xfrm>
          <a:prstGeom prst="rect">
            <a:avLst/>
          </a:prstGeom>
          <a:noFill/>
          <a:ln/>
        </p:spPr>
        <p:txBody>
          <a:bodyPr wrap="square"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Live Ops &amp; Learning Loop — closing the feedback gap</a:t>
            </a:r>
            <a:endParaRPr lang="en-US" sz="2400" dirty="0"/>
          </a:p>
        </p:txBody>
      </p:sp>
      <p:sp>
        <p:nvSpPr>
          <p:cNvPr id="4" name="Text 2"/>
          <p:cNvSpPr/>
          <p:nvPr/>
        </p:nvSpPr>
        <p:spPr>
          <a:xfrm>
            <a:off x="548640" y="1170432"/>
            <a:ext cx="10789920" cy="411480"/>
          </a:xfrm>
          <a:prstGeom prst="rect">
            <a:avLst/>
          </a:prstGeom>
          <a:noFill/>
          <a:ln/>
        </p:spPr>
        <p:txBody>
          <a:bodyPr wrap="square" rtlCol="0" anchor="ctr"/>
          <a:lstStyle/>
          <a:p>
            <a:pPr indent="0" marL="0">
              <a:buNone/>
            </a:pPr>
            <a:r>
              <a:rPr lang="en-US" sz="1150" dirty="0">
                <a:solidFill>
                  <a:srgbClr val="AAB3C0"/>
                </a:solidFill>
                <a:latin typeface="Calibri" pitchFamily="34" charset="0"/>
                <a:ea typeface="Calibri" pitchFamily="34" charset="-122"/>
                <a:cs typeface="Calibri" pitchFamily="34" charset="-120"/>
              </a:rPr>
              <a:t>Live incidents are triaged by their own known priority and closure flags, not predicted. Resolving one with its actual outcome updates a running session accuracy score — 72% here after one submission.</a:t>
            </a:r>
            <a:endParaRPr lang="en-US" sz="1150" dirty="0"/>
          </a:p>
        </p:txBody>
      </p:sp>
      <p:pic>
        <p:nvPicPr>
          <p:cNvPr id="5" name="Image 0" descr="images/shot_liveops.png">    </p:cNvPr>
          <p:cNvPicPr>
            <a:picLocks noChangeAspect="1"/>
          </p:cNvPicPr>
          <p:nvPr/>
        </p:nvPicPr>
        <p:blipFill>
          <a:blip r:embed="rId1"/>
          <a:stretch>
            <a:fillRect/>
          </a:stretch>
        </p:blipFill>
        <p:spPr>
          <a:xfrm>
            <a:off x="883768" y="1828800"/>
            <a:ext cx="10424160" cy="3695700"/>
          </a:xfrm>
          <a:prstGeom prst="rect">
            <a:avLst/>
          </a:prstGeom>
          <a:effectLst>
            <a:outerShdw sx="100000" sy="100000" kx="0" ky="0" algn="bl" rotWithShape="0" blurRad="177800" dist="76200" dir="5400000">
              <a:srgbClr val="000000">
                <a:alpha val="45000"/>
              </a:srgbClr>
            </a:outerShdw>
          </a:effectLst>
        </p:spPr>
      </p:pic>
      <p:sp>
        <p:nvSpPr>
          <p:cNvPr id="6" name="Text 3"/>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707C8C"/>
                </a:solidFill>
                <a:latin typeface="Cambria" pitchFamily="34" charset="0"/>
                <a:ea typeface="Cambria" pitchFamily="34" charset="-122"/>
                <a:cs typeface="Cambria" pitchFamily="34" charset="-120"/>
              </a:rPr>
              <a:t>EVENTPULSE</a:t>
            </a:r>
            <a:endParaRPr lang="en-US" sz="1000" dirty="0"/>
          </a:p>
        </p:txBody>
      </p:sp>
      <p:sp>
        <p:nvSpPr>
          <p:cNvPr id="7" name="Text 4"/>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384048"/>
            <a:ext cx="8229600" cy="274320"/>
          </a:xfrm>
          <a:prstGeom prst="rect">
            <a:avLst/>
          </a:prstGeom>
          <a:noFill/>
          <a:ln/>
        </p:spPr>
        <p:txBody>
          <a:bodyPr wrap="square" rtlCol="0" anchor="ctr"/>
          <a:lstStyle/>
          <a:p>
            <a:pPr indent="0" marL="0">
              <a:buNone/>
            </a:pPr>
            <a:r>
              <a:rPr lang="en-US" sz="1150" b="1" spc="150" kern="0" dirty="0">
                <a:solidFill>
                  <a:srgbClr val="8A6B2E"/>
                </a:solidFill>
                <a:latin typeface="Calibri" pitchFamily="34" charset="0"/>
                <a:ea typeface="Calibri" pitchFamily="34" charset="-122"/>
                <a:cs typeface="Calibri" pitchFamily="34" charset="-120"/>
              </a:rPr>
              <a:t>CONCLUSION &amp; FUTURE SCOPE</a:t>
            </a:r>
            <a:endParaRPr lang="en-US" sz="1150" dirty="0"/>
          </a:p>
        </p:txBody>
      </p:sp>
      <p:sp>
        <p:nvSpPr>
          <p:cNvPr id="3" name="Text 1"/>
          <p:cNvSpPr/>
          <p:nvPr/>
        </p:nvSpPr>
        <p:spPr>
          <a:xfrm>
            <a:off x="548640" y="640080"/>
            <a:ext cx="10789920" cy="640080"/>
          </a:xfrm>
          <a:prstGeom prst="rect">
            <a:avLst/>
          </a:prstGeom>
          <a:noFill/>
          <a:ln/>
        </p:spPr>
        <p:txBody>
          <a:bodyPr wrap="square" lIns="0" tIns="0" rIns="0" bIns="0" rtlCol="0" anchor="ctr"/>
          <a:lstStyle/>
          <a:p>
            <a:pPr indent="0" marL="0">
              <a:buNone/>
            </a:pPr>
            <a:r>
              <a:rPr lang="en-US" sz="2800" b="1" dirty="0">
                <a:solidFill>
                  <a:srgbClr val="161A1F"/>
                </a:solidFill>
                <a:latin typeface="Cambria" pitchFamily="34" charset="0"/>
                <a:ea typeface="Cambria" pitchFamily="34" charset="-122"/>
                <a:cs typeface="Cambria" pitchFamily="34" charset="-120"/>
              </a:rPr>
              <a:t>From hackathon prototype to control-room pilot</a:t>
            </a:r>
            <a:endParaRPr lang="en-US" sz="2800" dirty="0"/>
          </a:p>
        </p:txBody>
      </p:sp>
      <p:sp>
        <p:nvSpPr>
          <p:cNvPr id="4" name="Text 2"/>
          <p:cNvSpPr/>
          <p:nvPr/>
        </p:nvSpPr>
        <p:spPr>
          <a:xfrm>
            <a:off x="548640" y="1371600"/>
            <a:ext cx="10789920" cy="777240"/>
          </a:xfrm>
          <a:prstGeom prst="rect">
            <a:avLst/>
          </a:prstGeom>
          <a:noFill/>
          <a:ln/>
        </p:spPr>
        <p:txBody>
          <a:bodyPr wrap="square" rtlCol="0" anchor="ctr"/>
          <a:lstStyle/>
          <a:p>
            <a:pPr indent="0" marL="0">
              <a:lnSpc>
                <a:spcPct val="130000"/>
              </a:lnSpc>
              <a:buNone/>
            </a:pPr>
            <a:r>
              <a:rPr lang="en-US" sz="1300" dirty="0">
                <a:solidFill>
                  <a:srgbClr val="495260"/>
                </a:solidFill>
                <a:latin typeface="Calibri" pitchFamily="34" charset="0"/>
                <a:ea typeface="Calibri" pitchFamily="34" charset="-122"/>
                <a:cs typeface="Calibri" pitchFamily="34" charset="-120"/>
              </a:rPr>
              <a:t>EventPulse is a fully working, deployable prototype today, built on real anonymized B-TRAC data, with two validated ML models and no backend to provision. The fastest way to know if it earns its place in the control room is to point it at one corridor's live events and watch it forecast.</a:t>
            </a:r>
            <a:endParaRPr lang="en-US" sz="1300" dirty="0"/>
          </a:p>
        </p:txBody>
      </p:sp>
      <p:sp>
        <p:nvSpPr>
          <p:cNvPr id="5" name="Shape 3"/>
          <p:cNvSpPr/>
          <p:nvPr/>
        </p:nvSpPr>
        <p:spPr>
          <a:xfrm>
            <a:off x="548640" y="2423160"/>
            <a:ext cx="2606040" cy="2286000"/>
          </a:xfrm>
          <a:prstGeom prst="roundRect">
            <a:avLst>
              <a:gd name="adj" fmla="val 3600"/>
            </a:avLst>
          </a:prstGeom>
          <a:solidFill>
            <a:srgbClr val="F4F5F3"/>
          </a:solidFill>
          <a:ln/>
          <a:effectLst>
            <a:outerShdw sx="100000" sy="100000" kx="0" ky="0" algn="bl" rotWithShape="0" blurRad="88900" dist="38100" dir="5400000">
              <a:srgbClr val="000000">
                <a:alpha val="12000"/>
              </a:srgbClr>
            </a:outerShdw>
          </a:effectLst>
        </p:spPr>
      </p:sp>
      <p:sp>
        <p:nvSpPr>
          <p:cNvPr id="6" name="Shape 4"/>
          <p:cNvSpPr/>
          <p:nvPr/>
        </p:nvSpPr>
        <p:spPr>
          <a:xfrm>
            <a:off x="1540764" y="2697480"/>
            <a:ext cx="621792" cy="621792"/>
          </a:xfrm>
          <a:prstGeom prst="ellipse">
            <a:avLst/>
          </a:prstGeom>
          <a:solidFill>
            <a:srgbClr val="1B2027"/>
          </a:solidFill>
          <a:ln/>
        </p:spPr>
      </p:sp>
      <p:pic>
        <p:nvPicPr>
          <p:cNvPr id="7" name="Image 0" descr="preencoded.png">    </p:cNvPr>
          <p:cNvPicPr>
            <a:picLocks noChangeAspect="1"/>
          </p:cNvPicPr>
          <p:nvPr/>
        </p:nvPicPr>
        <p:blipFill>
          <a:blip r:embed="rId1"/>
          <a:stretch>
            <a:fillRect/>
          </a:stretch>
        </p:blipFill>
        <p:spPr>
          <a:xfrm>
            <a:off x="1696212" y="2852928"/>
            <a:ext cx="310896" cy="310896"/>
          </a:xfrm>
          <a:prstGeom prst="rect">
            <a:avLst/>
          </a:prstGeom>
        </p:spPr>
      </p:pic>
      <p:sp>
        <p:nvSpPr>
          <p:cNvPr id="8" name="Text 5"/>
          <p:cNvSpPr/>
          <p:nvPr/>
        </p:nvSpPr>
        <p:spPr>
          <a:xfrm>
            <a:off x="694944" y="3456432"/>
            <a:ext cx="2313432" cy="548640"/>
          </a:xfrm>
          <a:prstGeom prst="rect">
            <a:avLst/>
          </a:prstGeom>
          <a:noFill/>
          <a:ln/>
        </p:spPr>
        <p:txBody>
          <a:bodyPr wrap="square" lIns="0" tIns="0" rIns="0" bIns="0" rtlCol="0" anchor="ctr"/>
          <a:lstStyle/>
          <a:p>
            <a:pPr algn="ctr" indent="0" marL="0">
              <a:buNone/>
            </a:pPr>
            <a:r>
              <a:rPr lang="en-US" sz="1250" b="1" dirty="0">
                <a:solidFill>
                  <a:srgbClr val="161A1F"/>
                </a:solidFill>
                <a:latin typeface="Cambria" pitchFamily="34" charset="0"/>
                <a:ea typeface="Cambria" pitchFamily="34" charset="-122"/>
                <a:cs typeface="Cambria" pitchFamily="34" charset="-120"/>
              </a:rPr>
              <a:t>Live signal ingestion</a:t>
            </a:r>
            <a:endParaRPr lang="en-US" sz="1250" dirty="0"/>
          </a:p>
        </p:txBody>
      </p:sp>
      <p:sp>
        <p:nvSpPr>
          <p:cNvPr id="9" name="Text 6"/>
          <p:cNvSpPr/>
          <p:nvPr/>
        </p:nvSpPr>
        <p:spPr>
          <a:xfrm>
            <a:off x="713232" y="4023360"/>
            <a:ext cx="2276856" cy="621792"/>
          </a:xfrm>
          <a:prstGeom prst="rect">
            <a:avLst/>
          </a:prstGeom>
          <a:noFill/>
          <a:ln/>
        </p:spPr>
        <p:txBody>
          <a:bodyPr wrap="square" rtlCol="0" anchor="ctr"/>
          <a:lstStyle/>
          <a:p>
            <a:pPr algn="ctr" indent="0" marL="0">
              <a:lnSpc>
                <a:spcPct val="118000"/>
              </a:lnSpc>
              <a:buNone/>
            </a:pPr>
            <a:r>
              <a:rPr lang="en-US" sz="900" dirty="0">
                <a:solidFill>
                  <a:srgbClr val="495260"/>
                </a:solidFill>
                <a:latin typeface="Calibri" pitchFamily="34" charset="0"/>
                <a:ea typeface="Calibri" pitchFamily="34" charset="-122"/>
                <a:cs typeface="Calibri" pitchFamily="34" charset="-120"/>
              </a:rPr>
              <a:t>Real-time GPS/traffic-API feeds so the map reflects the city right now, not just history.</a:t>
            </a:r>
            <a:endParaRPr lang="en-US" sz="900" dirty="0"/>
          </a:p>
        </p:txBody>
      </p:sp>
      <p:sp>
        <p:nvSpPr>
          <p:cNvPr id="10" name="Shape 7"/>
          <p:cNvSpPr/>
          <p:nvPr/>
        </p:nvSpPr>
        <p:spPr>
          <a:xfrm>
            <a:off x="3337560" y="2423160"/>
            <a:ext cx="2606040" cy="2286000"/>
          </a:xfrm>
          <a:prstGeom prst="roundRect">
            <a:avLst>
              <a:gd name="adj" fmla="val 3600"/>
            </a:avLst>
          </a:prstGeom>
          <a:solidFill>
            <a:srgbClr val="F4F5F3"/>
          </a:solidFill>
          <a:ln/>
          <a:effectLst>
            <a:outerShdw sx="100000" sy="100000" kx="0" ky="0" algn="bl" rotWithShape="0" blurRad="88900" dist="38100" dir="5400000">
              <a:srgbClr val="000000">
                <a:alpha val="12000"/>
              </a:srgbClr>
            </a:outerShdw>
          </a:effectLst>
        </p:spPr>
      </p:sp>
      <p:sp>
        <p:nvSpPr>
          <p:cNvPr id="11" name="Shape 8"/>
          <p:cNvSpPr/>
          <p:nvPr/>
        </p:nvSpPr>
        <p:spPr>
          <a:xfrm>
            <a:off x="4329684" y="2697480"/>
            <a:ext cx="621792" cy="621792"/>
          </a:xfrm>
          <a:prstGeom prst="ellipse">
            <a:avLst/>
          </a:prstGeom>
          <a:solidFill>
            <a:srgbClr val="1B2027"/>
          </a:solidFill>
          <a:ln/>
        </p:spPr>
      </p:sp>
      <p:pic>
        <p:nvPicPr>
          <p:cNvPr id="12" name="Image 1" descr="preencoded.png">    </p:cNvPr>
          <p:cNvPicPr>
            <a:picLocks noChangeAspect="1"/>
          </p:cNvPicPr>
          <p:nvPr/>
        </p:nvPicPr>
        <p:blipFill>
          <a:blip r:embed="rId2"/>
          <a:stretch>
            <a:fillRect/>
          </a:stretch>
        </p:blipFill>
        <p:spPr>
          <a:xfrm>
            <a:off x="4485132" y="2852928"/>
            <a:ext cx="310896" cy="310896"/>
          </a:xfrm>
          <a:prstGeom prst="rect">
            <a:avLst/>
          </a:prstGeom>
        </p:spPr>
      </p:pic>
      <p:sp>
        <p:nvSpPr>
          <p:cNvPr id="13" name="Text 9"/>
          <p:cNvSpPr/>
          <p:nvPr/>
        </p:nvSpPr>
        <p:spPr>
          <a:xfrm>
            <a:off x="3483864" y="3456432"/>
            <a:ext cx="2313432" cy="548640"/>
          </a:xfrm>
          <a:prstGeom prst="rect">
            <a:avLst/>
          </a:prstGeom>
          <a:noFill/>
          <a:ln/>
        </p:spPr>
        <p:txBody>
          <a:bodyPr wrap="square" lIns="0" tIns="0" rIns="0" bIns="0" rtlCol="0" anchor="ctr"/>
          <a:lstStyle/>
          <a:p>
            <a:pPr algn="ctr" indent="0" marL="0">
              <a:buNone/>
            </a:pPr>
            <a:r>
              <a:rPr lang="en-US" sz="1250" b="1" dirty="0">
                <a:solidFill>
                  <a:srgbClr val="161A1F"/>
                </a:solidFill>
                <a:latin typeface="Cambria" pitchFamily="34" charset="0"/>
                <a:ea typeface="Cambria" pitchFamily="34" charset="-122"/>
                <a:cs typeface="Cambria" pitchFamily="34" charset="-120"/>
              </a:rPr>
              <a:t>Real road-graph routing</a:t>
            </a:r>
            <a:endParaRPr lang="en-US" sz="1250" dirty="0"/>
          </a:p>
        </p:txBody>
      </p:sp>
      <p:sp>
        <p:nvSpPr>
          <p:cNvPr id="14" name="Text 10"/>
          <p:cNvSpPr/>
          <p:nvPr/>
        </p:nvSpPr>
        <p:spPr>
          <a:xfrm>
            <a:off x="3502152" y="4023360"/>
            <a:ext cx="2276856" cy="621792"/>
          </a:xfrm>
          <a:prstGeom prst="rect">
            <a:avLst/>
          </a:prstGeom>
          <a:noFill/>
          <a:ln/>
        </p:spPr>
        <p:txBody>
          <a:bodyPr wrap="square" rtlCol="0" anchor="ctr"/>
          <a:lstStyle/>
          <a:p>
            <a:pPr algn="ctr" indent="0" marL="0">
              <a:lnSpc>
                <a:spcPct val="118000"/>
              </a:lnSpc>
              <a:buNone/>
            </a:pPr>
            <a:r>
              <a:rPr lang="en-US" sz="900" dirty="0">
                <a:solidFill>
                  <a:srgbClr val="495260"/>
                </a:solidFill>
                <a:latin typeface="Calibri" pitchFamily="34" charset="0"/>
                <a:ea typeface="Calibri" pitchFamily="34" charset="-122"/>
                <a:cs typeface="Calibri" pitchFamily="34" charset="-120"/>
              </a:rPr>
              <a:t>Replace the corridor-load heuristic with an actual shortest-alternate-path engine.</a:t>
            </a:r>
            <a:endParaRPr lang="en-US" sz="900" dirty="0"/>
          </a:p>
        </p:txBody>
      </p:sp>
      <p:sp>
        <p:nvSpPr>
          <p:cNvPr id="15" name="Shape 11"/>
          <p:cNvSpPr/>
          <p:nvPr/>
        </p:nvSpPr>
        <p:spPr>
          <a:xfrm>
            <a:off x="6126480" y="2423160"/>
            <a:ext cx="2606040" cy="2286000"/>
          </a:xfrm>
          <a:prstGeom prst="roundRect">
            <a:avLst>
              <a:gd name="adj" fmla="val 3600"/>
            </a:avLst>
          </a:prstGeom>
          <a:solidFill>
            <a:srgbClr val="F4F5F3"/>
          </a:solidFill>
          <a:ln/>
          <a:effectLst>
            <a:outerShdw sx="100000" sy="100000" kx="0" ky="0" algn="bl" rotWithShape="0" blurRad="88900" dist="38100" dir="5400000">
              <a:srgbClr val="000000">
                <a:alpha val="12000"/>
              </a:srgbClr>
            </a:outerShdw>
          </a:effectLst>
        </p:spPr>
      </p:sp>
      <p:sp>
        <p:nvSpPr>
          <p:cNvPr id="16" name="Shape 12"/>
          <p:cNvSpPr/>
          <p:nvPr/>
        </p:nvSpPr>
        <p:spPr>
          <a:xfrm>
            <a:off x="7118604" y="2697480"/>
            <a:ext cx="621792" cy="621792"/>
          </a:xfrm>
          <a:prstGeom prst="ellipse">
            <a:avLst/>
          </a:prstGeom>
          <a:solidFill>
            <a:srgbClr val="1B2027"/>
          </a:solidFill>
          <a:ln/>
        </p:spPr>
      </p:sp>
      <p:pic>
        <p:nvPicPr>
          <p:cNvPr id="17" name="Image 2" descr="preencoded.png">    </p:cNvPr>
          <p:cNvPicPr>
            <a:picLocks noChangeAspect="1"/>
          </p:cNvPicPr>
          <p:nvPr/>
        </p:nvPicPr>
        <p:blipFill>
          <a:blip r:embed="rId3"/>
          <a:stretch>
            <a:fillRect/>
          </a:stretch>
        </p:blipFill>
        <p:spPr>
          <a:xfrm>
            <a:off x="7274052" y="2852928"/>
            <a:ext cx="310896" cy="310896"/>
          </a:xfrm>
          <a:prstGeom prst="rect">
            <a:avLst/>
          </a:prstGeom>
        </p:spPr>
      </p:pic>
      <p:sp>
        <p:nvSpPr>
          <p:cNvPr id="18" name="Text 13"/>
          <p:cNvSpPr/>
          <p:nvPr/>
        </p:nvSpPr>
        <p:spPr>
          <a:xfrm>
            <a:off x="6272784" y="3456432"/>
            <a:ext cx="2313432" cy="548640"/>
          </a:xfrm>
          <a:prstGeom prst="rect">
            <a:avLst/>
          </a:prstGeom>
          <a:noFill/>
          <a:ln/>
        </p:spPr>
        <p:txBody>
          <a:bodyPr wrap="square" lIns="0" tIns="0" rIns="0" bIns="0" rtlCol="0" anchor="ctr"/>
          <a:lstStyle/>
          <a:p>
            <a:pPr algn="ctr" indent="0" marL="0">
              <a:buNone/>
            </a:pPr>
            <a:r>
              <a:rPr lang="en-US" sz="1250" b="1" dirty="0">
                <a:solidFill>
                  <a:srgbClr val="161A1F"/>
                </a:solidFill>
                <a:latin typeface="Cambria" pitchFamily="34" charset="0"/>
                <a:ea typeface="Cambria" pitchFamily="34" charset="-122"/>
                <a:cs typeface="Cambria" pitchFamily="34" charset="-120"/>
              </a:rPr>
              <a:t>A field app for officers</a:t>
            </a:r>
            <a:endParaRPr lang="en-US" sz="1250" dirty="0"/>
          </a:p>
        </p:txBody>
      </p:sp>
      <p:sp>
        <p:nvSpPr>
          <p:cNvPr id="19" name="Text 14"/>
          <p:cNvSpPr/>
          <p:nvPr/>
        </p:nvSpPr>
        <p:spPr>
          <a:xfrm>
            <a:off x="6291072" y="4023360"/>
            <a:ext cx="2276856" cy="621792"/>
          </a:xfrm>
          <a:prstGeom prst="rect">
            <a:avLst/>
          </a:prstGeom>
          <a:noFill/>
          <a:ln/>
        </p:spPr>
        <p:txBody>
          <a:bodyPr wrap="square" rtlCol="0" anchor="ctr"/>
          <a:lstStyle/>
          <a:p>
            <a:pPr algn="ctr" indent="0" marL="0">
              <a:lnSpc>
                <a:spcPct val="118000"/>
              </a:lnSpc>
              <a:buNone/>
            </a:pPr>
            <a:r>
              <a:rPr lang="en-US" sz="900" dirty="0">
                <a:solidFill>
                  <a:srgbClr val="495260"/>
                </a:solidFill>
                <a:latin typeface="Calibri" pitchFamily="34" charset="0"/>
                <a:ea typeface="Calibri" pitchFamily="34" charset="-122"/>
                <a:cs typeface="Calibri" pitchFamily="34" charset="-120"/>
              </a:rPr>
              <a:t>Push the deployment plan straight to the assigned team's phone, one-tap acknowledgement.</a:t>
            </a:r>
            <a:endParaRPr lang="en-US" sz="900" dirty="0"/>
          </a:p>
        </p:txBody>
      </p:sp>
      <p:sp>
        <p:nvSpPr>
          <p:cNvPr id="20" name="Shape 15"/>
          <p:cNvSpPr/>
          <p:nvPr/>
        </p:nvSpPr>
        <p:spPr>
          <a:xfrm>
            <a:off x="8915400" y="2423160"/>
            <a:ext cx="2606040" cy="2286000"/>
          </a:xfrm>
          <a:prstGeom prst="roundRect">
            <a:avLst>
              <a:gd name="adj" fmla="val 3600"/>
            </a:avLst>
          </a:prstGeom>
          <a:solidFill>
            <a:srgbClr val="F4F5F3"/>
          </a:solidFill>
          <a:ln/>
          <a:effectLst>
            <a:outerShdw sx="100000" sy="100000" kx="0" ky="0" algn="bl" rotWithShape="0" blurRad="88900" dist="38100" dir="5400000">
              <a:srgbClr val="000000">
                <a:alpha val="12000"/>
              </a:srgbClr>
            </a:outerShdw>
          </a:effectLst>
        </p:spPr>
      </p:sp>
      <p:sp>
        <p:nvSpPr>
          <p:cNvPr id="21" name="Shape 16"/>
          <p:cNvSpPr/>
          <p:nvPr/>
        </p:nvSpPr>
        <p:spPr>
          <a:xfrm>
            <a:off x="9907524" y="2697480"/>
            <a:ext cx="621792" cy="621792"/>
          </a:xfrm>
          <a:prstGeom prst="ellipse">
            <a:avLst/>
          </a:prstGeom>
          <a:solidFill>
            <a:srgbClr val="1B2027"/>
          </a:solidFill>
          <a:ln/>
        </p:spPr>
      </p:sp>
      <p:pic>
        <p:nvPicPr>
          <p:cNvPr id="22" name="Image 3" descr="preencoded.png">    </p:cNvPr>
          <p:cNvPicPr>
            <a:picLocks noChangeAspect="1"/>
          </p:cNvPicPr>
          <p:nvPr/>
        </p:nvPicPr>
        <p:blipFill>
          <a:blip r:embed="rId4"/>
          <a:stretch>
            <a:fillRect/>
          </a:stretch>
        </p:blipFill>
        <p:spPr>
          <a:xfrm>
            <a:off x="10062972" y="2852928"/>
            <a:ext cx="310896" cy="310896"/>
          </a:xfrm>
          <a:prstGeom prst="rect">
            <a:avLst/>
          </a:prstGeom>
        </p:spPr>
      </p:pic>
      <p:sp>
        <p:nvSpPr>
          <p:cNvPr id="23" name="Text 17"/>
          <p:cNvSpPr/>
          <p:nvPr/>
        </p:nvSpPr>
        <p:spPr>
          <a:xfrm>
            <a:off x="9061704" y="3456432"/>
            <a:ext cx="2313432" cy="548640"/>
          </a:xfrm>
          <a:prstGeom prst="rect">
            <a:avLst/>
          </a:prstGeom>
          <a:noFill/>
          <a:ln/>
        </p:spPr>
        <p:txBody>
          <a:bodyPr wrap="square" lIns="0" tIns="0" rIns="0" bIns="0" rtlCol="0" anchor="ctr"/>
          <a:lstStyle/>
          <a:p>
            <a:pPr algn="ctr" indent="0" marL="0">
              <a:buNone/>
            </a:pPr>
            <a:r>
              <a:rPr lang="en-US" sz="1250" b="1" dirty="0">
                <a:solidFill>
                  <a:srgbClr val="161A1F"/>
                </a:solidFill>
                <a:latin typeface="Cambria" pitchFamily="34" charset="0"/>
                <a:ea typeface="Cambria" pitchFamily="34" charset="-122"/>
                <a:cs typeface="Cambria" pitchFamily="34" charset="-120"/>
              </a:rPr>
              <a:t>B-TRAC / dispatch integration</a:t>
            </a:r>
            <a:endParaRPr lang="en-US" sz="1250" dirty="0"/>
          </a:p>
        </p:txBody>
      </p:sp>
      <p:sp>
        <p:nvSpPr>
          <p:cNvPr id="24" name="Text 18"/>
          <p:cNvSpPr/>
          <p:nvPr/>
        </p:nvSpPr>
        <p:spPr>
          <a:xfrm>
            <a:off x="9079992" y="4023360"/>
            <a:ext cx="2276856" cy="621792"/>
          </a:xfrm>
          <a:prstGeom prst="rect">
            <a:avLst/>
          </a:prstGeom>
          <a:noFill/>
          <a:ln/>
        </p:spPr>
        <p:txBody>
          <a:bodyPr wrap="square" rtlCol="0" anchor="ctr"/>
          <a:lstStyle/>
          <a:p>
            <a:pPr algn="ctr" indent="0" marL="0">
              <a:lnSpc>
                <a:spcPct val="118000"/>
              </a:lnSpc>
              <a:buNone/>
            </a:pPr>
            <a:r>
              <a:rPr lang="en-US" sz="900" dirty="0">
                <a:solidFill>
                  <a:srgbClr val="495260"/>
                </a:solidFill>
                <a:latin typeface="Calibri" pitchFamily="34" charset="0"/>
                <a:ea typeface="Calibri" pitchFamily="34" charset="-122"/>
                <a:cs typeface="Calibri" pitchFamily="34" charset="-120"/>
              </a:rPr>
              <a:t>Ingest permit filings and live incident tickets automatically — no manual re-entry.</a:t>
            </a:r>
            <a:endParaRPr lang="en-US" sz="900" dirty="0"/>
          </a:p>
        </p:txBody>
      </p:sp>
      <p:sp>
        <p:nvSpPr>
          <p:cNvPr id="25" name="Shape 19"/>
          <p:cNvSpPr/>
          <p:nvPr/>
        </p:nvSpPr>
        <p:spPr>
          <a:xfrm>
            <a:off x="548640" y="5029200"/>
            <a:ext cx="6263640" cy="420624"/>
          </a:xfrm>
          <a:prstGeom prst="roundRect">
            <a:avLst>
              <a:gd name="adj" fmla="val 50000"/>
            </a:avLst>
          </a:prstGeom>
          <a:solidFill>
            <a:srgbClr val="1B2027"/>
          </a:solidFill>
          <a:ln/>
        </p:spPr>
      </p:sp>
      <p:sp>
        <p:nvSpPr>
          <p:cNvPr id="26" name="Text 20"/>
          <p:cNvSpPr/>
          <p:nvPr/>
        </p:nvSpPr>
        <p:spPr>
          <a:xfrm>
            <a:off x="548640" y="5029200"/>
            <a:ext cx="6263640" cy="420624"/>
          </a:xfrm>
          <a:prstGeom prst="rect">
            <a:avLst/>
          </a:prstGeom>
          <a:noFill/>
          <a:ln/>
        </p:spPr>
        <p:txBody>
          <a:bodyPr wrap="square" rtlCol="0" anchor="ctr"/>
          <a:lstStyle/>
          <a:p>
            <a:pPr algn="ctr" indent="0" marL="0">
              <a:buNone/>
            </a:pPr>
            <a:r>
              <a:rPr lang="en-US" sz="1100" b="1" spc="50" kern="0" dirty="0">
                <a:solidFill>
                  <a:srgbClr val="F2A93B"/>
                </a:solidFill>
                <a:latin typeface="Calibri" pitchFamily="34" charset="0"/>
                <a:ea typeface="Calibri" pitchFamily="34" charset="-122"/>
                <a:cs typeface="Calibri" pitchFamily="34" charset="-120"/>
              </a:rPr>
              <a:t>THEME · EVENT-DRIVEN CONGESTION — PLANNED &amp; UNPLANNED</a:t>
            </a:r>
            <a:endParaRPr lang="en-US" sz="1100" dirty="0"/>
          </a:p>
        </p:txBody>
      </p:sp>
      <p:sp>
        <p:nvSpPr>
          <p:cNvPr id="27" name="Text 21"/>
          <p:cNvSpPr/>
          <p:nvPr/>
        </p:nvSpPr>
        <p:spPr>
          <a:xfrm>
            <a:off x="548640" y="6473952"/>
            <a:ext cx="2743200" cy="274320"/>
          </a:xfrm>
          <a:prstGeom prst="rect">
            <a:avLst/>
          </a:prstGeom>
          <a:noFill/>
          <a:ln/>
        </p:spPr>
        <p:txBody>
          <a:bodyPr wrap="square" rtlCol="0" anchor="ctr"/>
          <a:lstStyle/>
          <a:p>
            <a:pPr indent="0" marL="0">
              <a:buNone/>
            </a:pPr>
            <a:r>
              <a:rPr lang="en-US" sz="1000" b="1" dirty="0">
                <a:solidFill>
                  <a:srgbClr val="5A6472"/>
                </a:solidFill>
                <a:latin typeface="Cambria" pitchFamily="34" charset="0"/>
                <a:ea typeface="Cambria" pitchFamily="34" charset="-122"/>
                <a:cs typeface="Cambria" pitchFamily="34" charset="-120"/>
              </a:rPr>
              <a:t>EVENTPULSE</a:t>
            </a:r>
            <a:endParaRPr lang="en-US" sz="1000" dirty="0"/>
          </a:p>
        </p:txBody>
      </p:sp>
      <p:sp>
        <p:nvSpPr>
          <p:cNvPr id="28" name="Text 22"/>
          <p:cNvSpPr/>
          <p:nvPr/>
        </p:nvSpPr>
        <p:spPr>
          <a:xfrm>
            <a:off x="11551615" y="6473952"/>
            <a:ext cx="457200" cy="274320"/>
          </a:xfrm>
          <a:prstGeom prst="rect">
            <a:avLst/>
          </a:prstGeom>
          <a:noFill/>
          <a:ln/>
        </p:spPr>
        <p:txBody>
          <a:bodyPr wrap="square" rtlCol="0" anchor="ctr"/>
          <a:lstStyle/>
          <a:p>
            <a:pPr algn="r" indent="0" marL="0">
              <a:buNone/>
            </a:pPr>
            <a:r>
              <a:rPr lang="en-US" sz="900" dirty="0">
                <a:solidFill>
                  <a:srgbClr val="707C8C"/>
                </a:solidFill>
                <a:latin typeface="Courier New" pitchFamily="34" charset="0"/>
                <a:ea typeface="Courier New" pitchFamily="34" charset="-122"/>
                <a:cs typeface="Courier New" pitchFamily="34" charset="-120"/>
              </a:rPr>
              <a:t>09</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EventPulse — Event Congestion Intelligence</dc:title>
  <dc:subject>PptxGenJS Presentation</dc:subject>
  <dc:creator>EventPulse</dc:creator>
  <cp:lastModifiedBy>EventPulse</cp:lastModifiedBy>
  <cp:revision>1</cp:revision>
  <dcterms:created xsi:type="dcterms:W3CDTF">2026-06-20T15:36:49Z</dcterms:created>
  <dcterms:modified xsi:type="dcterms:W3CDTF">2026-06-20T15:36:49Z</dcterms:modified>
</cp:coreProperties>
</file>